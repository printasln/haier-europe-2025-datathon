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2438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nu Başlığı"/>
          <p:cNvSpPr txBox="1"/>
          <p:nvPr>
            <p:ph type="title" hasCustomPrompt="1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Sunu Başlığı</a:t>
            </a:r>
          </a:p>
        </p:txBody>
      </p:sp>
      <p:sp>
        <p:nvSpPr>
          <p:cNvPr id="12" name="Yazar ve Tarih"/>
          <p:cNvSpPr txBox="1"/>
          <p:nvPr>
            <p:ph type="body" sz="quarter" idx="21" hasCustomPrompt="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Yazar ve Tarih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Sunu Alt Başlığı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 ve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Koyu mavi arka plana dokunan iki denizanası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Yazar ve Tarih"/>
          <p:cNvSpPr txBox="1"/>
          <p:nvPr>
            <p:ph type="body" sz="quarter" idx="22" hasCustomPrompt="1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Yazar ve Tarih</a:t>
            </a:r>
          </a:p>
        </p:txBody>
      </p:sp>
      <p:sp>
        <p:nvSpPr>
          <p:cNvPr id="23" name="Sunu Başlığı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pc="-348" sz="11600">
                <a:solidFill>
                  <a:srgbClr val="FFFFFF"/>
                </a:solidFill>
              </a:defRPr>
            </a:lvl1pPr>
          </a:lstStyle>
          <a:p>
            <a:pPr/>
            <a:r>
              <a:t>Sunu Başlığı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Sunu Alt Başlığı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ternatif Başlık ve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vi arka planda iki denizanası"/>
          <p:cNvSpPr/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ayt Başlığı"/>
          <p:cNvSpPr txBox="1"/>
          <p:nvPr>
            <p:ph type="title" hasCustomPrompt="1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Slayt Başlığı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Slayt Alt Başlığı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 ve Madde İşaretl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ayt Başlığı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43" name="Slayt Alt Başlığı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Slayt Alt Başlığı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dde İşaretl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, Maddeler ve 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embe arka planda iki denizanası"/>
          <p:cNvSpPr/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ayt Başlığı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Slayt Başlığı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ayt Alt Başlığı"/>
          <p:cNvSpPr txBox="1"/>
          <p:nvPr>
            <p:ph type="body" sz="quarter" idx="22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Slayt Alt Başlığı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, Maddeler ve Küçük Canlı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ayt Başlığı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Slayt Başlığı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ayt Alt Başlığı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Slayt Alt Başlığı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aşlık, Maddeler ve Büyük Canlı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ayt Başlığı"/>
          <p:cNvSpPr txBox="1"/>
          <p:nvPr>
            <p:ph type="title" hasCustomPrompt="1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Slayt Başlığı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ayt Alt Başlığı"/>
          <p:cNvSpPr txBox="1"/>
          <p:nvPr>
            <p:ph type="body" sz="quarter" idx="21" hasCustomPrompt="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Slayt Alt Başlığı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ölü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Bölüm Başlığı"/>
          <p:cNvSpPr txBox="1"/>
          <p:nvPr>
            <p:ph type="title" hasCustomPrompt="1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pc="-348" sz="116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Bölüm Başlığı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ayt Başlığı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Slayt Başlığı</a:t>
            </a:r>
          </a:p>
        </p:txBody>
      </p:sp>
      <p:sp>
        <p:nvSpPr>
          <p:cNvPr id="100" name="Slayt Alt Başlığı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Slayt Alt Başlığı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ja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janda Başlığı"/>
          <p:cNvSpPr txBox="1"/>
          <p:nvPr>
            <p:ph type="title" hasCustomPrompt="1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pPr/>
            <a:r>
              <a:t>Ajanda Başlığı</a:t>
            </a:r>
          </a:p>
        </p:txBody>
      </p:sp>
      <p:sp>
        <p:nvSpPr>
          <p:cNvPr id="109" name="Ajanda Alt Başlığı"/>
          <p:cNvSpPr txBox="1"/>
          <p:nvPr>
            <p:ph type="body" sz="quarter" idx="21" hasCustomPrompt="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Ajanda Alt Başlığı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pc="-55" sz="5500"/>
            </a:lvl1pPr>
            <a:lvl2pPr marL="0" indent="457200" defTabSz="825500">
              <a:buClrTx/>
              <a:buSzTx/>
              <a:buNone/>
              <a:defRPr spc="-55" sz="5500"/>
            </a:lvl2pPr>
            <a:lvl3pPr marL="0" indent="914400" defTabSz="825500">
              <a:buClrTx/>
              <a:buSzTx/>
              <a:buNone/>
              <a:defRPr spc="-55" sz="5500"/>
            </a:lvl3pPr>
            <a:lvl4pPr marL="0" indent="1371600" defTabSz="825500">
              <a:buClrTx/>
              <a:buSzTx/>
              <a:buNone/>
              <a:defRPr spc="-55" sz="5500"/>
            </a:lvl4pPr>
            <a:lvl5pPr marL="0" indent="1828800" defTabSz="825500">
              <a:buClrTx/>
              <a:buSzTx/>
              <a:buNone/>
              <a:defRPr spc="-55" sz="5500"/>
            </a:lvl5pPr>
          </a:lstStyle>
          <a:p>
            <a:pPr/>
            <a:r>
              <a:t>Ajanda Konuları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Rap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pc="-252" sz="8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Rapor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üyük V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448" sz="224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%100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Veri bilgisi"/>
          <p:cNvSpPr txBox="1"/>
          <p:nvPr>
            <p:ph type="body" sz="quarter" idx="21" hasCustomPrompt="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Veri bilgisi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İsim"/>
          <p:cNvSpPr txBox="1"/>
          <p:nvPr>
            <p:ph type="body" sz="quarter" idx="21" hasCustomPrompt="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spcBef>
                <a:spcPts val="0"/>
              </a:spcBef>
              <a:buClrTx/>
              <a:buSzTx/>
              <a:buNone/>
              <a:defRPr sz="4224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İsim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68" sz="84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“Ünlü Alıntı”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ğraf - 3 Yukar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embe arka planda iki denizanası"/>
          <p:cNvSpPr/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Koyu mavi arka plana dokunan iki denizanası"/>
          <p:cNvSpPr/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Mavi arka planda iki denizanası"/>
          <p:cNvSpPr/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ğr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Koyu mavi arka plana dokunan iki denizanası"/>
          <p:cNvSpPr/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Başlığı"/>
          <p:cNvSpPr txBox="1"/>
          <p:nvPr>
            <p:ph type="title" hasCustomPrompt="1"/>
          </p:nvPr>
        </p:nvSpPr>
        <p:spPr>
          <a:xfrm>
            <a:off x="1270000" y="812800"/>
            <a:ext cx="21844000" cy="1557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Slayt Başlığı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70000" y="4267200"/>
            <a:ext cx="21844000" cy="843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Slayt madde işareti metni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66448" y="13065506"/>
            <a:ext cx="438405" cy="4826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825500">
              <a:spcBef>
                <a:spcPts val="0"/>
              </a:spcBef>
              <a:defRPr sz="2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252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1117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676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2235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27940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2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www.sciencedirect.com/science/article/abs/pii/S0377221706012057" TargetMode="External"/><Relationship Id="rId3" Type="http://schemas.openxmlformats.org/officeDocument/2006/relationships/hyperlink" Target="https://www.sciencedirect.com/science/article/abs/pii/S0925527313000273" TargetMode="External"/><Relationship Id="rId4" Type="http://schemas.openxmlformats.org/officeDocument/2006/relationships/hyperlink" Target="https://www.sciencedirect.com/science/article/pii/S0169207021001874" TargetMode="External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aier…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defTabSz="1633687">
              <a:defRPr spc="-233" sz="7772">
                <a:gradFill flip="none" rotWithShape="1">
                  <a:gsLst>
                    <a:gs pos="0">
                      <a:schemeClr val="accent2">
                        <a:hueOff val="-206910"/>
                        <a:satOff val="-12829"/>
                        <a:lumOff val="16238"/>
                      </a:schemeClr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pPr>
            <a:r>
              <a:t>Haier</a:t>
            </a:r>
          </a:p>
          <a:p>
            <a:pPr defTabSz="1633687">
              <a:defRPr spc="-233" sz="7772">
                <a:gradFill flip="none" rotWithShape="1">
                  <a:gsLst>
                    <a:gs pos="0">
                      <a:schemeClr val="accent2">
                        <a:hueOff val="-206910"/>
                        <a:satOff val="-12829"/>
                        <a:lumOff val="16238"/>
                      </a:schemeClr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pPr>
            <a:r>
              <a:t>Europe</a:t>
            </a:r>
          </a:p>
          <a:p>
            <a:pPr defTabSz="1633687">
              <a:defRPr spc="-233" sz="7772">
                <a:gradFill flip="none" rotWithShape="1">
                  <a:gsLst>
                    <a:gs pos="0">
                      <a:schemeClr val="accent2">
                        <a:hueOff val="-206910"/>
                        <a:satOff val="-12829"/>
                        <a:lumOff val="16238"/>
                      </a:schemeClr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pPr>
            <a:r>
              <a:t>DATATHON 2025</a:t>
            </a:r>
          </a:p>
        </p:txBody>
      </p:sp>
      <p:sp>
        <p:nvSpPr>
          <p:cNvPr id="172" name="2025"/>
          <p:cNvSpPr txBox="1"/>
          <p:nvPr>
            <p:ph type="body" idx="21"/>
          </p:nvPr>
        </p:nvSpPr>
        <p:spPr>
          <a:xfrm>
            <a:off x="-10355321" y="13115204"/>
            <a:ext cx="21844001" cy="6940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defRPr sz="23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r>
              <a:t>2025</a:t>
            </a:r>
          </a:p>
        </p:txBody>
      </p:sp>
      <p:sp>
        <p:nvSpPr>
          <p:cNvPr id="173" name="Final Sunumu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Final Sunumu</a:t>
            </a:r>
          </a:p>
        </p:txBody>
      </p:sp>
      <p:sp>
        <p:nvSpPr>
          <p:cNvPr id="174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75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PROBLEM</a:t>
            </a:r>
          </a:p>
        </p:txBody>
      </p:sp>
      <p:sp>
        <p:nvSpPr>
          <p:cNvPr id="179" name="Haier Europe’un ürün portföyü için, üretimden kalkan ürünleri dikkate alarak, SKU ve ürün hattı seviyesinde 12 aylık tutarlı ve iş odaklı talep tahmini yapılabilir mi?"/>
          <p:cNvSpPr txBox="1"/>
          <p:nvPr>
            <p:ph type="body" idx="21"/>
          </p:nvPr>
        </p:nvSpPr>
        <p:spPr>
          <a:xfrm>
            <a:off x="1480969" y="4056248"/>
            <a:ext cx="21844001" cy="134376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l" defTabSz="396239">
              <a:defRPr sz="3552"/>
            </a:lvl1pPr>
          </a:lstStyle>
          <a:p>
            <a:pPr/>
            <a:r>
              <a:t>Haier Europe’un ürün portföyü için, üretimden kalkan ürünleri dikkate alarak, SKU ve ürün hattı seviyesinde 12 aylık tutarlı ve iş odaklı talep tahmini yapılabilir mi? </a:t>
            </a:r>
          </a:p>
        </p:txBody>
      </p:sp>
      <p:sp>
        <p:nvSpPr>
          <p:cNvPr id="180" name="2022-2024 yılları arasına ait eğitim verisi sunulmuş…"/>
          <p:cNvSpPr txBox="1"/>
          <p:nvPr>
            <p:ph type="body" idx="1"/>
          </p:nvPr>
        </p:nvSpPr>
        <p:spPr>
          <a:xfrm>
            <a:off x="1270000" y="6612120"/>
            <a:ext cx="21844000" cy="8432801"/>
          </a:xfrm>
          <a:prstGeom prst="rect">
            <a:avLst/>
          </a:prstGeom>
        </p:spPr>
        <p:txBody>
          <a:bodyPr/>
          <a:lstStyle/>
          <a:p>
            <a:pPr marL="628650" indent="-628650">
              <a:spcBef>
                <a:spcPts val="0"/>
              </a:spcBef>
              <a:buClr>
                <a:srgbClr val="2459A4"/>
              </a:buClr>
              <a:buSzPct val="100000"/>
              <a:buChar char="•"/>
              <a:defRPr spc="0" sz="54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2022-2024 yılları arasına ait eğitim verisi sunulmuş</a:t>
            </a:r>
          </a:p>
          <a:p>
            <a:pPr marL="628650" indent="-628650">
              <a:spcBef>
                <a:spcPts val="0"/>
              </a:spcBef>
              <a:buClr>
                <a:srgbClr val="2459A4"/>
              </a:buClr>
              <a:buSzPct val="100000"/>
              <a:buChar char="•"/>
              <a:defRPr spc="0" sz="54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Sonraki 12 ay için tahmin yapmamız gerekiyor</a:t>
            </a:r>
          </a:p>
          <a:p>
            <a:pPr marL="628650" indent="-628650">
              <a:spcBef>
                <a:spcPts val="0"/>
              </a:spcBef>
              <a:buClr>
                <a:srgbClr val="2459A4"/>
              </a:buClr>
              <a:buSzPct val="100000"/>
              <a:buChar char="•"/>
              <a:defRPr spc="0" sz="54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Model değerlendirmesi </a:t>
            </a:r>
            <a:r>
              <a:rPr>
                <a:latin typeface="Graphik Medium"/>
                <a:ea typeface="Graphik Medium"/>
                <a:cs typeface="Graphik Medium"/>
                <a:sym typeface="Graphik Medium"/>
              </a:rPr>
              <a:t>rWMAPE</a:t>
            </a:r>
            <a:r>
              <a:t> ile yapılacak</a:t>
            </a:r>
          </a:p>
        </p:txBody>
      </p:sp>
      <p:sp>
        <p:nvSpPr>
          <p:cNvPr id="181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2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184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LİTERATÜR"/>
          <p:cNvSpPr txBox="1"/>
          <p:nvPr>
            <p:ph type="title"/>
          </p:nvPr>
        </p:nvSpPr>
        <p:spPr>
          <a:xfrm>
            <a:off x="-4562698" y="5312350"/>
            <a:ext cx="21844001" cy="1557438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LİTERATÜR</a:t>
            </a:r>
          </a:p>
        </p:txBody>
      </p:sp>
      <p:sp>
        <p:nvSpPr>
          <p:cNvPr id="187" name="MEVCUT YAKLAŞIMLAR…"/>
          <p:cNvSpPr txBox="1"/>
          <p:nvPr>
            <p:ph type="body" idx="21"/>
          </p:nvPr>
        </p:nvSpPr>
        <p:spPr>
          <a:xfrm>
            <a:off x="14038843" y="3851596"/>
            <a:ext cx="9708145" cy="835598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algn="l" defTabSz="457200">
              <a:spcBef>
                <a:spcPts val="1400"/>
              </a:spcBef>
              <a:defRPr b="1" sz="2300">
                <a:solidFill>
                  <a:srgbClr val="2459A4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MEVCUT YAKLAŞIMLAR</a:t>
            </a:r>
          </a:p>
          <a:p>
            <a:pPr algn="l" defTabSz="457200">
              <a:spcBef>
                <a:spcPts val="12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Kısa vadeli talep tahmini</a:t>
            </a:r>
            <a:endParaRPr b="0"/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Geçmiş satış miktarlarına dayalı yaklaşımlar</a:t>
            </a:r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Basit trend ve mevsimsellik varsayımları</a:t>
            </a:r>
          </a:p>
          <a:p>
            <a:pPr algn="l" defTabSz="457200">
              <a:spcBef>
                <a:spcPts val="12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SKU bazlı tahminleme</a:t>
            </a:r>
            <a:endParaRPr b="0"/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Ürün geçmişine odaklanan modeller</a:t>
            </a:r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SKU’ların birbirinden bağımsız ele alınması</a:t>
            </a:r>
          </a:p>
          <a:p>
            <a:pPr algn="l" defTabSz="457200">
              <a:spcBef>
                <a:spcPts val="12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Statik Yaşam Döngüsü Yönetimi</a:t>
            </a:r>
            <a:endParaRPr b="0"/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Phase-out </a:t>
            </a:r>
            <a:r>
              <a:t>dönemlerinin manuel kurallarla yönetilmesi</a:t>
            </a:r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Ürün "öldüğünde" modelin bunu fark edemeyip satış tahmin etmeye devam etmesi</a:t>
            </a:r>
          </a:p>
          <a:p>
            <a:pPr algn="l" defTabSz="457200">
              <a:spcBef>
                <a:spcPts val="12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Sıfır Enflasyonu Problemi</a:t>
            </a:r>
            <a:endParaRPr b="0"/>
          </a:p>
          <a:p>
            <a:pPr marL="457200" indent="-317500" algn="l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Seyrek verilerde, modelin sürekli ortalamaya kaçarak gerçek sıfırları tahmin edememesi</a:t>
            </a:r>
          </a:p>
          <a:p>
            <a:pPr algn="l" defTabSz="457200">
              <a:spcBef>
                <a:spcPts val="1200"/>
              </a:spcBef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88" name="Application of machine learning techniques for supply chain demand forecasting"/>
          <p:cNvSpPr txBox="1"/>
          <p:nvPr/>
        </p:nvSpPr>
        <p:spPr>
          <a:xfrm>
            <a:off x="1027161" y="7477711"/>
            <a:ext cx="1161034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79400" indent="-279400">
              <a:buClr>
                <a:srgbClr val="000000"/>
              </a:buClr>
              <a:buSzPct val="100000"/>
              <a:buChar char="•"/>
              <a:defRPr sz="2400" u="sng"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Application of machine learning techniques for supply chain demand forecasting</a:t>
            </a:r>
          </a:p>
        </p:txBody>
      </p:sp>
      <p:sp>
        <p:nvSpPr>
          <p:cNvPr id="189" name="Intermittent demand forecasts with neural networks"/>
          <p:cNvSpPr txBox="1"/>
          <p:nvPr/>
        </p:nvSpPr>
        <p:spPr>
          <a:xfrm>
            <a:off x="989893" y="8064578"/>
            <a:ext cx="739404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79400" indent="-279400" defTabSz="457200">
              <a:spcBef>
                <a:spcPts val="1600"/>
              </a:spcBef>
              <a:buClr>
                <a:srgbClr val="000000"/>
              </a:buClr>
              <a:buSzPct val="100000"/>
              <a:buChar char="•"/>
              <a:defRPr sz="2400" u="sng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 invalidUrl="" action="" tgtFrame="" tooltip="" history="1" highlightClick="0" endSnd="0"/>
              </a:defRPr>
            </a:lvl1pPr>
          </a:lstStyle>
          <a:p>
            <a:pPr/>
            <a:r>
              <a:rPr>
                <a:hlinkClick r:id="rId3" invalidUrl="" action="" tgtFrame="" tooltip="" history="1" highlightClick="0" endSnd="0"/>
              </a:rPr>
              <a:t>Intermittent demand forecasts with neural networks</a:t>
            </a:r>
          </a:p>
        </p:txBody>
      </p:sp>
      <p:sp>
        <p:nvSpPr>
          <p:cNvPr id="190" name="M5 accuracy competition: Results, findings, and conclusions"/>
          <p:cNvSpPr txBox="1"/>
          <p:nvPr/>
        </p:nvSpPr>
        <p:spPr>
          <a:xfrm>
            <a:off x="984551" y="8606335"/>
            <a:ext cx="867054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marL="279400" indent="-279400" defTabSz="457200">
              <a:spcBef>
                <a:spcPts val="1600"/>
              </a:spcBef>
              <a:buClr>
                <a:srgbClr val="000000"/>
              </a:buClr>
              <a:buSzPct val="100000"/>
              <a:buChar char="•"/>
              <a:defRPr sz="2400" u="sng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4" invalidUrl="" action="" tgtFrame="" tooltip="" history="1" highlightClick="0" endSnd="0"/>
              </a:rPr>
              <a:t>M5 accuracy competition: Results, findings, and conclusions</a:t>
            </a:r>
          </a:p>
        </p:txBody>
      </p:sp>
      <p:pic>
        <p:nvPicPr>
          <p:cNvPr id="191" name="pngwing.com.png" descr="pngwing.co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3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194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ÇÖZÜM AŞAMALAR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00951"/>
                    </a:gs>
                    <a:gs pos="100000">
                      <a:srgbClr val="0ACBF8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AŞAMALARI</a:t>
            </a:r>
          </a:p>
        </p:txBody>
      </p:sp>
      <p:sp>
        <p:nvSpPr>
          <p:cNvPr id="197" name="VERİ ANALİZİ"/>
          <p:cNvSpPr txBox="1"/>
          <p:nvPr>
            <p:ph type="body" idx="21"/>
          </p:nvPr>
        </p:nvSpPr>
        <p:spPr>
          <a:xfrm>
            <a:off x="-4755608" y="4968075"/>
            <a:ext cx="21844001" cy="1016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2459A4"/>
                </a:solidFill>
              </a:defRPr>
            </a:lvl1pPr>
          </a:lstStyle>
          <a:p>
            <a:pPr/>
            <a:r>
              <a:t>VERİ ANALİZİ</a:t>
            </a:r>
          </a:p>
        </p:txBody>
      </p:sp>
      <p:sp>
        <p:nvSpPr>
          <p:cNvPr id="198" name="ÇÖZÜM MİMARİSİ"/>
          <p:cNvSpPr txBox="1"/>
          <p:nvPr/>
        </p:nvSpPr>
        <p:spPr>
          <a:xfrm>
            <a:off x="6408953" y="4968075"/>
            <a:ext cx="2184400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5292">
                <a:solidFill>
                  <a:srgbClr val="2459A4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199" name="ÇIKARIMLAR"/>
          <p:cNvSpPr txBox="1"/>
          <p:nvPr/>
        </p:nvSpPr>
        <p:spPr>
          <a:xfrm>
            <a:off x="1270000" y="8536512"/>
            <a:ext cx="218440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5292">
                <a:solidFill>
                  <a:srgbClr val="2459A4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ÇIKARIMLAR</a:t>
            </a:r>
          </a:p>
        </p:txBody>
      </p:sp>
      <p:sp>
        <p:nvSpPr>
          <p:cNvPr id="200" name="Feature, model, eğitim ve tahminleme detayları"/>
          <p:cNvSpPr txBox="1"/>
          <p:nvPr/>
        </p:nvSpPr>
        <p:spPr>
          <a:xfrm>
            <a:off x="15157767" y="6069279"/>
            <a:ext cx="4346372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457200">
              <a:spcBef>
                <a:spcPts val="0"/>
              </a:spcBef>
              <a:defRPr b="1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Feature, model, eğitim ve tahminleme detayları</a:t>
            </a:r>
          </a:p>
        </p:txBody>
      </p:sp>
      <p:sp>
        <p:nvSpPr>
          <p:cNvPr id="201" name="Talep verisinin davranışının incelenmesi ve tahmine uygun hale getirilmesi."/>
          <p:cNvSpPr txBox="1"/>
          <p:nvPr/>
        </p:nvSpPr>
        <p:spPr>
          <a:xfrm>
            <a:off x="3893005" y="5992170"/>
            <a:ext cx="4546776" cy="203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457200">
              <a:spcBef>
                <a:spcPts val="0"/>
              </a:spcBef>
              <a:defRPr b="1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Talep verisinin davranışının incelenmesi ve tahmine uygun hale getirilmesi.</a:t>
            </a:r>
          </a:p>
        </p:txBody>
      </p:sp>
      <p:pic>
        <p:nvPicPr>
          <p:cNvPr id="202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4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05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  <p:sp>
        <p:nvSpPr>
          <p:cNvPr id="206" name="Verinin problem özelinde önemi, yapılabilecek değişiklikler"/>
          <p:cNvSpPr txBox="1"/>
          <p:nvPr/>
        </p:nvSpPr>
        <p:spPr>
          <a:xfrm>
            <a:off x="9601917" y="9566470"/>
            <a:ext cx="5180167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457200">
              <a:spcBef>
                <a:spcPts val="0"/>
              </a:spcBef>
              <a:defRPr b="1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Verinin problem özelinde önemi, yapılabilecek değişiklikler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VERİ ANALİZ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00951"/>
                    </a:gs>
                    <a:gs pos="100000">
                      <a:srgbClr val="0ACBF8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VERİ ANALİZİ</a:t>
            </a:r>
          </a:p>
        </p:txBody>
      </p:sp>
      <p:pic>
        <p:nvPicPr>
          <p:cNvPr id="209" name="output.png" descr="outpu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79054" y="3356011"/>
            <a:ext cx="12225892" cy="8705118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TIME SERIES DECOMPOSITION"/>
          <p:cNvSpPr txBox="1"/>
          <p:nvPr/>
        </p:nvSpPr>
        <p:spPr>
          <a:xfrm>
            <a:off x="7804120" y="2342424"/>
            <a:ext cx="10143441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TIME SERIES DECOMPOSITION</a:t>
            </a:r>
          </a:p>
        </p:txBody>
      </p:sp>
      <p:pic>
        <p:nvPicPr>
          <p:cNvPr id="211" name="pngwing.com.png" descr="pngwing.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13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14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VERİ ANALİZ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VERİ ANALİZİ</a:t>
            </a:r>
          </a:p>
        </p:txBody>
      </p:sp>
      <p:sp>
        <p:nvSpPr>
          <p:cNvPr id="217" name="YEAR-OVER-YEAR COMPARIS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YEAR-OVER-YEAR COMPARISON</a:t>
            </a:r>
          </a:p>
        </p:txBody>
      </p:sp>
      <p:pic>
        <p:nvPicPr>
          <p:cNvPr id="218" name="output2.png" descr="output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76800" y="3666677"/>
            <a:ext cx="14630400" cy="6870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pngwing.com.png" descr="pngwing.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1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22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VERİ ANALİZ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00951"/>
                    </a:gs>
                    <a:gs pos="100000">
                      <a:srgbClr val="0ACBF8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VERİ ANALİZİ</a:t>
            </a:r>
          </a:p>
        </p:txBody>
      </p:sp>
      <p:sp>
        <p:nvSpPr>
          <p:cNvPr id="225" name="DISTRIBUTION OF QUANTITY ANALYZ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DISTRIBUTION OF QUANTITY ANALYZE</a:t>
            </a:r>
          </a:p>
        </p:txBody>
      </p:sp>
      <p:pic>
        <p:nvPicPr>
          <p:cNvPr id="226" name="output3.png" descr="output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6850" y="3746500"/>
            <a:ext cx="18910300" cy="622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ngwing.com.png" descr="pngwing.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9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30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Code_Generated_Image-5.png" descr="Code_Generated_Image-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05782" y="4189214"/>
            <a:ext cx="10675040" cy="53375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Code_Generated_Image-6.png" descr="Code_Generated_Image-6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424442" y="4118334"/>
            <a:ext cx="10958664" cy="5479332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VERİ ANALİZ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VERİ ANALİZİ</a:t>
            </a:r>
          </a:p>
        </p:txBody>
      </p:sp>
      <p:sp>
        <p:nvSpPr>
          <p:cNvPr id="235" name="NEGATIVE SALES ANALYZE"/>
          <p:cNvSpPr txBox="1"/>
          <p:nvPr/>
        </p:nvSpPr>
        <p:spPr>
          <a:xfrm>
            <a:off x="1270000" y="2133600"/>
            <a:ext cx="21844000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08990">
              <a:spcBef>
                <a:spcPts val="0"/>
              </a:spcBef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NEGATIVE SALES ANALYZE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VERİ ANALİZ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00951"/>
                    </a:gs>
                    <a:gs pos="100000">
                      <a:srgbClr val="0ACBF8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VERİ ANALİZİ</a:t>
            </a:r>
          </a:p>
        </p:txBody>
      </p:sp>
      <p:sp>
        <p:nvSpPr>
          <p:cNvPr id="238" name="NEGATIVE SALES ANALYZ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NEGATIVE SALES ANALYZE</a:t>
            </a:r>
          </a:p>
        </p:txBody>
      </p:sp>
      <p:pic>
        <p:nvPicPr>
          <p:cNvPr id="239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Slide Number"/>
          <p:cNvSpPr txBox="1"/>
          <p:nvPr>
            <p:ph type="sldNum" sz="quarter" idx="4294967295"/>
          </p:nvPr>
        </p:nvSpPr>
        <p:spPr>
          <a:xfrm>
            <a:off x="12047474" y="13065506"/>
            <a:ext cx="276353" cy="4826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1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42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  <p:pic>
        <p:nvPicPr>
          <p:cNvPr id="243" name="Code_Generated_Image-7.png" descr="Code_Generated_Image-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02000" y="3915618"/>
            <a:ext cx="17780000" cy="7620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ÇÖZÜM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246" name="FEATURE ENGINEER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FEATURE ENGINEERING</a:t>
            </a:r>
          </a:p>
        </p:txBody>
      </p:sp>
      <p:sp>
        <p:nvSpPr>
          <p:cNvPr id="247" name="Zaman Bazlı Özellikler (Calendar Features)…"/>
          <p:cNvSpPr txBox="1"/>
          <p:nvPr/>
        </p:nvSpPr>
        <p:spPr>
          <a:xfrm>
            <a:off x="9651097" y="3905249"/>
            <a:ext cx="5461191" cy="842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Zaman Bazlı Özellikler (Calendar Features)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Ay, çeyrek, yıl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Q1 / Q4 göstergeleri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Yaz dönemi, Eylül, Noel sezonu bayrakları</a:t>
            </a:r>
          </a:p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Zaman Serisi Genişletme (Time Series Expansion)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Market–SKU bazında eksik ayların doldurulması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Sürekli ve düzenli zaman serisi oluşturulması</a:t>
            </a:r>
          </a:p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Ürün Yaşam Döngüsü (Lifecycle-Aware Features)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İlk satıştan geçen süre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Üretim başlangıcından geçen ay sayısı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Üretim bitişine kalan süre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Phase-out sonrası geçen süre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Ürün yaşam evresi (active / decay / dead)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Yaşam evresi sayısal kodlaması</a:t>
            </a:r>
          </a:p>
          <a:p>
            <a:pPr defTabSz="457200"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48" name="Gecikmeli Talep Özellikleri (Lag Features)…"/>
          <p:cNvSpPr txBox="1"/>
          <p:nvPr/>
        </p:nvSpPr>
        <p:spPr>
          <a:xfrm>
            <a:off x="16062999" y="3905250"/>
            <a:ext cx="5529759" cy="350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Gecikmeli Talep Özellikleri (Lag Features)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1, 2, 3, 6 ve 12 aylık gecikmeli satışlar</a:t>
            </a:r>
          </a:p>
          <a:p>
            <a:pPr defTabSz="457200">
              <a:spcBef>
                <a:spcPts val="12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Hareketli İstatistikler (Rolling Features)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3, 6, 12 aylık hareketli ortalamalar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Son 12 ayda sıfır talep oranı</a:t>
            </a:r>
          </a:p>
          <a:p>
            <a:pPr defTabSz="457200">
              <a:spcBef>
                <a:spcPts val="1200"/>
              </a:spcBef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Trend Türetilmiş Özellikler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Son 6 ay için satış eğimi (slope-based trend)</a:t>
            </a:r>
          </a:p>
        </p:txBody>
      </p:sp>
      <p:sp>
        <p:nvSpPr>
          <p:cNvPr id="249" name="TEMEL ÖZELLİKLER:"/>
          <p:cNvSpPr txBox="1"/>
          <p:nvPr/>
        </p:nvSpPr>
        <p:spPr>
          <a:xfrm>
            <a:off x="2491304" y="7272820"/>
            <a:ext cx="6076189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2459A4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TEMEL ÖZELLİKLER:</a:t>
            </a:r>
          </a:p>
        </p:txBody>
      </p:sp>
      <p:pic>
        <p:nvPicPr>
          <p:cNvPr id="250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2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53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ÇÖZÜM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256" name="FEATURE ENGINEER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FEATURE ENGINEERING</a:t>
            </a:r>
          </a:p>
        </p:txBody>
      </p:sp>
      <p:sp>
        <p:nvSpPr>
          <p:cNvPr id="257" name="HİYERARŞİK ÖZELLİKLER:"/>
          <p:cNvSpPr txBox="1"/>
          <p:nvPr/>
        </p:nvSpPr>
        <p:spPr>
          <a:xfrm>
            <a:off x="846029" y="7272820"/>
            <a:ext cx="776417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2459A4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HİYERARŞİK ÖZELLİKLER:</a:t>
            </a:r>
          </a:p>
        </p:txBody>
      </p:sp>
      <p:pic>
        <p:nvPicPr>
          <p:cNvPr id="258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0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61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  <p:sp>
        <p:nvSpPr>
          <p:cNvPr id="262" name="Hiyerarşik Toplamlar (Hierarchical Aggregations)…"/>
          <p:cNvSpPr txBox="1"/>
          <p:nvPr/>
        </p:nvSpPr>
        <p:spPr>
          <a:xfrm>
            <a:off x="10161901" y="3740150"/>
            <a:ext cx="5276983" cy="875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Hiyerarşik Toplamlar (Hierarchical Aggregations)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Kategori, Business Line, Sektör ve Market seviyesinde toplam ve ortalama talep sinyalleri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Factory ve Brand bazlı geçmiş talep göstergeleri</a:t>
            </a:r>
          </a:p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Göreli Paylar (Relative Share Features)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SKU’nun kategori içindeki payı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Kategorinin Business Line içindeki payı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Business Line’ın sektör içindeki payı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SKU’nun market içindeki payı</a:t>
            </a:r>
          </a:p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Momentum &amp; Oynaklık (Momentum &amp; Volatility) İlk satıştan geçen süre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Kategori, Business Line ve sektör seviyesinde 3–6 aylık momentum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Business Line seviyesinde talep oynaklığı (volatile)</a:t>
            </a:r>
          </a:p>
          <a:p>
            <a:pPr defTabSz="457200"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63" name="Etkileşim Türetilmiş Özellikler (Interaction Features)…"/>
          <p:cNvSpPr txBox="1"/>
          <p:nvPr/>
        </p:nvSpPr>
        <p:spPr>
          <a:xfrm>
            <a:off x="16012368" y="3738457"/>
            <a:ext cx="5276983" cy="7988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Etkileşim Türetilmiş Özellikler (Interaction Features)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Hiyerarşik momentum zinciri (sektör → BL → kategori → SKU)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Kategori × ürün yaşam döngüsü etkileşimleri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Mevsimsellik (Q4, yaz, Noel) × hiyerarşik seviye etkileşimleri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Factory × Brand sinerji etkileri</a:t>
            </a:r>
          </a:p>
          <a:p>
            <a:pPr defTabSz="457200">
              <a:spcBef>
                <a:spcPts val="1200"/>
              </a:spcBef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Baskınlık &amp; Normalizasyon (Dominance &amp; Normalization)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SKU’nun kategori içindeki baskınlığı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Kategorinin Business Line içindeki baskınlığı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Kategori içi z-score normalizasyonu</a:t>
            </a:r>
          </a:p>
          <a:p>
            <a:pPr defTabSz="457200"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ÇÖZÜM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266" name="MODEL SEÇİMİ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MODEL SEÇİMİ</a:t>
            </a:r>
          </a:p>
        </p:txBody>
      </p:sp>
      <p:sp>
        <p:nvSpPr>
          <p:cNvPr id="267" name="LGBM…"/>
          <p:cNvSpPr txBox="1"/>
          <p:nvPr/>
        </p:nvSpPr>
        <p:spPr>
          <a:xfrm>
            <a:off x="3153157" y="4102099"/>
            <a:ext cx="3080614" cy="551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LGBM </a:t>
            </a:r>
          </a:p>
          <a:p>
            <a:pPr/>
            <a:r>
              <a:t>CatBoost</a:t>
            </a:r>
          </a:p>
          <a:p>
            <a:pPr/>
            <a:r>
              <a:t>XGBoost</a:t>
            </a:r>
          </a:p>
          <a:p>
            <a:pPr/>
            <a:r>
              <a:t>Autogluon</a:t>
            </a:r>
          </a:p>
          <a:p>
            <a:pPr/>
            <a:r>
              <a:t>FBProphet</a:t>
            </a:r>
          </a:p>
        </p:txBody>
      </p:sp>
      <p:pic>
        <p:nvPicPr>
          <p:cNvPr id="268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70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71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  <p:pic>
        <p:nvPicPr>
          <p:cNvPr id="272" name="yapıştırılan-film.png" descr="yapıştırılan-film.png"/>
          <p:cNvPicPr>
            <a:picLocks noChangeAspect="1"/>
          </p:cNvPicPr>
          <p:nvPr/>
        </p:nvPicPr>
        <p:blipFill>
          <a:blip r:embed="rId3">
            <a:extLst/>
          </a:blip>
          <a:srcRect l="10198" t="14655" r="11049" b="31902"/>
          <a:stretch>
            <a:fillRect/>
          </a:stretch>
        </p:blipFill>
        <p:spPr>
          <a:xfrm>
            <a:off x="12241105" y="3715543"/>
            <a:ext cx="5117307" cy="114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4012"/>
                </a:lnTo>
                <a:cubicBezTo>
                  <a:pt x="0" y="6216"/>
                  <a:pt x="14" y="8016"/>
                  <a:pt x="32" y="8016"/>
                </a:cubicBezTo>
                <a:cubicBezTo>
                  <a:pt x="75" y="8016"/>
                  <a:pt x="2660" y="696"/>
                  <a:pt x="2754" y="308"/>
                </a:cubicBezTo>
                <a:cubicBezTo>
                  <a:pt x="2796" y="133"/>
                  <a:pt x="2226" y="0"/>
                  <a:pt x="1414" y="0"/>
                </a:cubicBezTo>
                <a:lnTo>
                  <a:pt x="0" y="0"/>
                </a:lnTo>
                <a:close/>
                <a:moveTo>
                  <a:pt x="16084" y="4080"/>
                </a:moveTo>
                <a:lnTo>
                  <a:pt x="16084" y="10578"/>
                </a:lnTo>
                <a:lnTo>
                  <a:pt x="16084" y="17077"/>
                </a:lnTo>
                <a:lnTo>
                  <a:pt x="16725" y="17070"/>
                </a:lnTo>
                <a:cubicBezTo>
                  <a:pt x="17687" y="17068"/>
                  <a:pt x="18113" y="15609"/>
                  <a:pt x="17993" y="12742"/>
                </a:cubicBezTo>
                <a:cubicBezTo>
                  <a:pt x="17955" y="11836"/>
                  <a:pt x="17878" y="11355"/>
                  <a:pt x="17709" y="10962"/>
                </a:cubicBezTo>
                <a:lnTo>
                  <a:pt x="17476" y="10421"/>
                </a:lnTo>
                <a:lnTo>
                  <a:pt x="17677" y="9346"/>
                </a:lnTo>
                <a:cubicBezTo>
                  <a:pt x="17827" y="8546"/>
                  <a:pt x="17872" y="7950"/>
                  <a:pt x="17854" y="7040"/>
                </a:cubicBezTo>
                <a:cubicBezTo>
                  <a:pt x="17818" y="5145"/>
                  <a:pt x="17560" y="4501"/>
                  <a:pt x="16754" y="4275"/>
                </a:cubicBezTo>
                <a:lnTo>
                  <a:pt x="16084" y="4080"/>
                </a:lnTo>
                <a:close/>
                <a:moveTo>
                  <a:pt x="2875" y="4117"/>
                </a:moveTo>
                <a:lnTo>
                  <a:pt x="2622" y="4853"/>
                </a:lnTo>
                <a:cubicBezTo>
                  <a:pt x="2483" y="5261"/>
                  <a:pt x="2134" y="6253"/>
                  <a:pt x="1846" y="7062"/>
                </a:cubicBezTo>
                <a:cubicBezTo>
                  <a:pt x="1558" y="7872"/>
                  <a:pt x="1322" y="8620"/>
                  <a:pt x="1322" y="8723"/>
                </a:cubicBezTo>
                <a:cubicBezTo>
                  <a:pt x="1321" y="8826"/>
                  <a:pt x="1609" y="9156"/>
                  <a:pt x="1962" y="9459"/>
                </a:cubicBezTo>
                <a:cubicBezTo>
                  <a:pt x="2962" y="10318"/>
                  <a:pt x="2875" y="10545"/>
                  <a:pt x="2875" y="7107"/>
                </a:cubicBezTo>
                <a:lnTo>
                  <a:pt x="2875" y="4117"/>
                </a:lnTo>
                <a:close/>
                <a:moveTo>
                  <a:pt x="4585" y="4185"/>
                </a:moveTo>
                <a:lnTo>
                  <a:pt x="4585" y="10623"/>
                </a:lnTo>
                <a:lnTo>
                  <a:pt x="4585" y="17077"/>
                </a:lnTo>
                <a:lnTo>
                  <a:pt x="5399" y="17077"/>
                </a:lnTo>
                <a:cubicBezTo>
                  <a:pt x="6157" y="17077"/>
                  <a:pt x="6215" y="17027"/>
                  <a:pt x="6215" y="16393"/>
                </a:cubicBezTo>
                <a:cubicBezTo>
                  <a:pt x="6215" y="15789"/>
                  <a:pt x="6152" y="15695"/>
                  <a:pt x="5652" y="15605"/>
                </a:cubicBezTo>
                <a:lnTo>
                  <a:pt x="5089" y="15507"/>
                </a:lnTo>
                <a:lnTo>
                  <a:pt x="5067" y="9842"/>
                </a:lnTo>
                <a:lnTo>
                  <a:pt x="5046" y="4185"/>
                </a:lnTo>
                <a:lnTo>
                  <a:pt x="4816" y="4185"/>
                </a:lnTo>
                <a:lnTo>
                  <a:pt x="4585" y="4185"/>
                </a:lnTo>
                <a:close/>
                <a:moveTo>
                  <a:pt x="9634" y="4185"/>
                </a:moveTo>
                <a:lnTo>
                  <a:pt x="9634" y="10623"/>
                </a:lnTo>
                <a:lnTo>
                  <a:pt x="9634" y="17077"/>
                </a:lnTo>
                <a:lnTo>
                  <a:pt x="9869" y="17077"/>
                </a:lnTo>
                <a:lnTo>
                  <a:pt x="10101" y="17077"/>
                </a:lnTo>
                <a:lnTo>
                  <a:pt x="10101" y="14049"/>
                </a:lnTo>
                <a:cubicBezTo>
                  <a:pt x="10101" y="11422"/>
                  <a:pt x="10122" y="10910"/>
                  <a:pt x="10269" y="10210"/>
                </a:cubicBezTo>
                <a:cubicBezTo>
                  <a:pt x="10362" y="9767"/>
                  <a:pt x="10519" y="9406"/>
                  <a:pt x="10616" y="9406"/>
                </a:cubicBezTo>
                <a:cubicBezTo>
                  <a:pt x="10923" y="9406"/>
                  <a:pt x="11033" y="10630"/>
                  <a:pt x="11033" y="14012"/>
                </a:cubicBezTo>
                <a:cubicBezTo>
                  <a:pt x="11033" y="17042"/>
                  <a:pt x="11035" y="17077"/>
                  <a:pt x="11227" y="17077"/>
                </a:cubicBezTo>
                <a:lnTo>
                  <a:pt x="11421" y="17077"/>
                </a:lnTo>
                <a:lnTo>
                  <a:pt x="11421" y="13313"/>
                </a:lnTo>
                <a:cubicBezTo>
                  <a:pt x="11421" y="9145"/>
                  <a:pt x="11346" y="8235"/>
                  <a:pt x="10978" y="7919"/>
                </a:cubicBezTo>
                <a:cubicBezTo>
                  <a:pt x="10859" y="7817"/>
                  <a:pt x="10630" y="7929"/>
                  <a:pt x="10472" y="8174"/>
                </a:cubicBezTo>
                <a:cubicBezTo>
                  <a:pt x="10313" y="8419"/>
                  <a:pt x="10166" y="8533"/>
                  <a:pt x="10143" y="8430"/>
                </a:cubicBezTo>
                <a:cubicBezTo>
                  <a:pt x="10120" y="8327"/>
                  <a:pt x="10101" y="7331"/>
                  <a:pt x="10101" y="6213"/>
                </a:cubicBezTo>
                <a:cubicBezTo>
                  <a:pt x="10101" y="4187"/>
                  <a:pt x="10101" y="4185"/>
                  <a:pt x="9869" y="4185"/>
                </a:cubicBezTo>
                <a:lnTo>
                  <a:pt x="9634" y="4185"/>
                </a:lnTo>
                <a:close/>
                <a:moveTo>
                  <a:pt x="18493" y="4185"/>
                </a:moveTo>
                <a:lnTo>
                  <a:pt x="18493" y="10623"/>
                </a:lnTo>
                <a:lnTo>
                  <a:pt x="18493" y="17077"/>
                </a:lnTo>
                <a:lnTo>
                  <a:pt x="18683" y="17077"/>
                </a:lnTo>
                <a:lnTo>
                  <a:pt x="18876" y="17077"/>
                </a:lnTo>
                <a:lnTo>
                  <a:pt x="18898" y="12629"/>
                </a:lnTo>
                <a:cubicBezTo>
                  <a:pt x="18910" y="10140"/>
                  <a:pt x="18952" y="8189"/>
                  <a:pt x="18993" y="8189"/>
                </a:cubicBezTo>
                <a:cubicBezTo>
                  <a:pt x="19034" y="8189"/>
                  <a:pt x="19247" y="10151"/>
                  <a:pt x="19467" y="12547"/>
                </a:cubicBezTo>
                <a:cubicBezTo>
                  <a:pt x="19819" y="16370"/>
                  <a:pt x="19889" y="16897"/>
                  <a:pt x="20049" y="16897"/>
                </a:cubicBezTo>
                <a:cubicBezTo>
                  <a:pt x="20209" y="16897"/>
                  <a:pt x="20279" y="16361"/>
                  <a:pt x="20640" y="12366"/>
                </a:cubicBezTo>
                <a:cubicBezTo>
                  <a:pt x="20865" y="9875"/>
                  <a:pt x="21077" y="7921"/>
                  <a:pt x="21111" y="8016"/>
                </a:cubicBezTo>
                <a:cubicBezTo>
                  <a:pt x="21145" y="8112"/>
                  <a:pt x="21167" y="10186"/>
                  <a:pt x="21161" y="12629"/>
                </a:cubicBezTo>
                <a:lnTo>
                  <a:pt x="21151" y="17077"/>
                </a:lnTo>
                <a:lnTo>
                  <a:pt x="21376" y="17077"/>
                </a:lnTo>
                <a:lnTo>
                  <a:pt x="21600" y="17077"/>
                </a:lnTo>
                <a:lnTo>
                  <a:pt x="21600" y="10623"/>
                </a:lnTo>
                <a:lnTo>
                  <a:pt x="21600" y="4185"/>
                </a:lnTo>
                <a:lnTo>
                  <a:pt x="21297" y="4185"/>
                </a:lnTo>
                <a:lnTo>
                  <a:pt x="20994" y="4185"/>
                </a:lnTo>
                <a:lnTo>
                  <a:pt x="20742" y="6882"/>
                </a:lnTo>
                <a:cubicBezTo>
                  <a:pt x="20604" y="8367"/>
                  <a:pt x="20417" y="10457"/>
                  <a:pt x="20327" y="11533"/>
                </a:cubicBezTo>
                <a:cubicBezTo>
                  <a:pt x="20237" y="12608"/>
                  <a:pt x="20128" y="13555"/>
                  <a:pt x="20086" y="13629"/>
                </a:cubicBezTo>
                <a:cubicBezTo>
                  <a:pt x="20043" y="13703"/>
                  <a:pt x="19815" y="11605"/>
                  <a:pt x="19580" y="8971"/>
                </a:cubicBezTo>
                <a:lnTo>
                  <a:pt x="19153" y="4185"/>
                </a:lnTo>
                <a:lnTo>
                  <a:pt x="18823" y="4185"/>
                </a:lnTo>
                <a:lnTo>
                  <a:pt x="18493" y="4185"/>
                </a:lnTo>
                <a:close/>
                <a:moveTo>
                  <a:pt x="6704" y="4335"/>
                </a:moveTo>
                <a:cubicBezTo>
                  <a:pt x="6686" y="4340"/>
                  <a:pt x="6668" y="4360"/>
                  <a:pt x="6652" y="4388"/>
                </a:cubicBezTo>
                <a:cubicBezTo>
                  <a:pt x="6503" y="4644"/>
                  <a:pt x="6484" y="5793"/>
                  <a:pt x="6624" y="6018"/>
                </a:cubicBezTo>
                <a:cubicBezTo>
                  <a:pt x="6738" y="6202"/>
                  <a:pt x="6994" y="5681"/>
                  <a:pt x="6994" y="5259"/>
                </a:cubicBezTo>
                <a:cubicBezTo>
                  <a:pt x="6994" y="4782"/>
                  <a:pt x="6830" y="4300"/>
                  <a:pt x="6704" y="4335"/>
                </a:cubicBezTo>
                <a:close/>
                <a:moveTo>
                  <a:pt x="14819" y="4470"/>
                </a:moveTo>
                <a:cubicBezTo>
                  <a:pt x="13799" y="4458"/>
                  <a:pt x="13271" y="6635"/>
                  <a:pt x="13271" y="10849"/>
                </a:cubicBezTo>
                <a:cubicBezTo>
                  <a:pt x="13271" y="13452"/>
                  <a:pt x="13470" y="15242"/>
                  <a:pt x="13876" y="16281"/>
                </a:cubicBezTo>
                <a:cubicBezTo>
                  <a:pt x="14238" y="17208"/>
                  <a:pt x="14934" y="17343"/>
                  <a:pt x="15348" y="16566"/>
                </a:cubicBezTo>
                <a:lnTo>
                  <a:pt x="15618" y="16063"/>
                </a:lnTo>
                <a:lnTo>
                  <a:pt x="15618" y="13261"/>
                </a:lnTo>
                <a:lnTo>
                  <a:pt x="15618" y="10451"/>
                </a:lnTo>
                <a:lnTo>
                  <a:pt x="15073" y="10451"/>
                </a:lnTo>
                <a:cubicBezTo>
                  <a:pt x="14587" y="10451"/>
                  <a:pt x="14529" y="10522"/>
                  <a:pt x="14529" y="11127"/>
                </a:cubicBezTo>
                <a:cubicBezTo>
                  <a:pt x="14529" y="11656"/>
                  <a:pt x="14592" y="11831"/>
                  <a:pt x="14820" y="11916"/>
                </a:cubicBezTo>
                <a:cubicBezTo>
                  <a:pt x="15103" y="12021"/>
                  <a:pt x="15114" y="12062"/>
                  <a:pt x="15137" y="13501"/>
                </a:cubicBezTo>
                <a:cubicBezTo>
                  <a:pt x="15159" y="14846"/>
                  <a:pt x="15140" y="15020"/>
                  <a:pt x="14943" y="15357"/>
                </a:cubicBezTo>
                <a:cubicBezTo>
                  <a:pt x="14159" y="16693"/>
                  <a:pt x="13412" y="12405"/>
                  <a:pt x="13804" y="8820"/>
                </a:cubicBezTo>
                <a:cubicBezTo>
                  <a:pt x="14078" y="6306"/>
                  <a:pt x="14675" y="5313"/>
                  <a:pt x="15256" y="6401"/>
                </a:cubicBezTo>
                <a:lnTo>
                  <a:pt x="15511" y="6874"/>
                </a:lnTo>
                <a:lnTo>
                  <a:pt x="15477" y="5875"/>
                </a:lnTo>
                <a:cubicBezTo>
                  <a:pt x="15434" y="4569"/>
                  <a:pt x="15392" y="4477"/>
                  <a:pt x="14819" y="4470"/>
                </a:cubicBezTo>
                <a:close/>
                <a:moveTo>
                  <a:pt x="12324" y="4575"/>
                </a:moveTo>
                <a:cubicBezTo>
                  <a:pt x="12277" y="4550"/>
                  <a:pt x="12209" y="4664"/>
                  <a:pt x="12115" y="4891"/>
                </a:cubicBezTo>
                <a:cubicBezTo>
                  <a:pt x="12019" y="5121"/>
                  <a:pt x="11966" y="5621"/>
                  <a:pt x="11966" y="6266"/>
                </a:cubicBezTo>
                <a:cubicBezTo>
                  <a:pt x="11966" y="6823"/>
                  <a:pt x="11930" y="7372"/>
                  <a:pt x="11887" y="7491"/>
                </a:cubicBezTo>
                <a:cubicBezTo>
                  <a:pt x="11844" y="7609"/>
                  <a:pt x="11810" y="8078"/>
                  <a:pt x="11810" y="8535"/>
                </a:cubicBezTo>
                <a:cubicBezTo>
                  <a:pt x="11810" y="8991"/>
                  <a:pt x="11844" y="9461"/>
                  <a:pt x="11887" y="9579"/>
                </a:cubicBezTo>
                <a:cubicBezTo>
                  <a:pt x="11930" y="9698"/>
                  <a:pt x="11966" y="11152"/>
                  <a:pt x="11966" y="12802"/>
                </a:cubicBezTo>
                <a:cubicBezTo>
                  <a:pt x="11966" y="15105"/>
                  <a:pt x="11995" y="15949"/>
                  <a:pt x="12093" y="16439"/>
                </a:cubicBezTo>
                <a:cubicBezTo>
                  <a:pt x="12180" y="16870"/>
                  <a:pt x="12332" y="17077"/>
                  <a:pt x="12561" y="17077"/>
                </a:cubicBezTo>
                <a:cubicBezTo>
                  <a:pt x="12846" y="17077"/>
                  <a:pt x="12897" y="16968"/>
                  <a:pt x="12897" y="16378"/>
                </a:cubicBezTo>
                <a:cubicBezTo>
                  <a:pt x="12897" y="15929"/>
                  <a:pt x="12847" y="15680"/>
                  <a:pt x="12753" y="15680"/>
                </a:cubicBezTo>
                <a:cubicBezTo>
                  <a:pt x="12497" y="15680"/>
                  <a:pt x="12424" y="14843"/>
                  <a:pt x="12448" y="12141"/>
                </a:cubicBezTo>
                <a:cubicBezTo>
                  <a:pt x="12471" y="9638"/>
                  <a:pt x="12476" y="9582"/>
                  <a:pt x="12685" y="9474"/>
                </a:cubicBezTo>
                <a:cubicBezTo>
                  <a:pt x="12851" y="9388"/>
                  <a:pt x="12897" y="9176"/>
                  <a:pt x="12897" y="8535"/>
                </a:cubicBezTo>
                <a:cubicBezTo>
                  <a:pt x="12897" y="7894"/>
                  <a:pt x="12851" y="7689"/>
                  <a:pt x="12685" y="7603"/>
                </a:cubicBezTo>
                <a:cubicBezTo>
                  <a:pt x="12493" y="7505"/>
                  <a:pt x="12468" y="7335"/>
                  <a:pt x="12447" y="6010"/>
                </a:cubicBezTo>
                <a:cubicBezTo>
                  <a:pt x="12431" y="5047"/>
                  <a:pt x="12404" y="4617"/>
                  <a:pt x="12324" y="4575"/>
                </a:cubicBezTo>
                <a:close/>
                <a:moveTo>
                  <a:pt x="16847" y="5988"/>
                </a:moveTo>
                <a:cubicBezTo>
                  <a:pt x="17332" y="5780"/>
                  <a:pt x="17604" y="8046"/>
                  <a:pt x="17233" y="9211"/>
                </a:cubicBezTo>
                <a:cubicBezTo>
                  <a:pt x="17018" y="9885"/>
                  <a:pt x="16637" y="9922"/>
                  <a:pt x="16581" y="9271"/>
                </a:cubicBezTo>
                <a:cubicBezTo>
                  <a:pt x="16558" y="9004"/>
                  <a:pt x="16551" y="8177"/>
                  <a:pt x="16564" y="7438"/>
                </a:cubicBezTo>
                <a:cubicBezTo>
                  <a:pt x="16587" y="6196"/>
                  <a:pt x="16607" y="6091"/>
                  <a:pt x="16847" y="5988"/>
                </a:cubicBezTo>
                <a:close/>
                <a:moveTo>
                  <a:pt x="8270" y="7663"/>
                </a:moveTo>
                <a:cubicBezTo>
                  <a:pt x="8047" y="7640"/>
                  <a:pt x="7804" y="7894"/>
                  <a:pt x="7667" y="8377"/>
                </a:cubicBezTo>
                <a:cubicBezTo>
                  <a:pt x="7161" y="10164"/>
                  <a:pt x="7206" y="15586"/>
                  <a:pt x="7738" y="16671"/>
                </a:cubicBezTo>
                <a:cubicBezTo>
                  <a:pt x="8006" y="17220"/>
                  <a:pt x="8403" y="17176"/>
                  <a:pt x="8597" y="16566"/>
                </a:cubicBezTo>
                <a:cubicBezTo>
                  <a:pt x="8785" y="15977"/>
                  <a:pt x="8858" y="16170"/>
                  <a:pt x="8858" y="17272"/>
                </a:cubicBezTo>
                <a:cubicBezTo>
                  <a:pt x="8858" y="18399"/>
                  <a:pt x="8439" y="19857"/>
                  <a:pt x="8116" y="19857"/>
                </a:cubicBezTo>
                <a:cubicBezTo>
                  <a:pt x="7972" y="19857"/>
                  <a:pt x="7764" y="20047"/>
                  <a:pt x="7651" y="20278"/>
                </a:cubicBezTo>
                <a:cubicBezTo>
                  <a:pt x="7467" y="20653"/>
                  <a:pt x="7460" y="20728"/>
                  <a:pt x="7589" y="20954"/>
                </a:cubicBezTo>
                <a:cubicBezTo>
                  <a:pt x="7847" y="21410"/>
                  <a:pt x="8556" y="21267"/>
                  <a:pt x="8820" y="20706"/>
                </a:cubicBezTo>
                <a:cubicBezTo>
                  <a:pt x="9228" y="19838"/>
                  <a:pt x="9324" y="18291"/>
                  <a:pt x="9324" y="12539"/>
                </a:cubicBezTo>
                <a:lnTo>
                  <a:pt x="9324" y="7663"/>
                </a:lnTo>
                <a:lnTo>
                  <a:pt x="9096" y="7663"/>
                </a:lnTo>
                <a:cubicBezTo>
                  <a:pt x="8971" y="7663"/>
                  <a:pt x="8845" y="7824"/>
                  <a:pt x="8818" y="8016"/>
                </a:cubicBezTo>
                <a:cubicBezTo>
                  <a:pt x="8786" y="8250"/>
                  <a:pt x="8723" y="8250"/>
                  <a:pt x="8626" y="8016"/>
                </a:cubicBezTo>
                <a:cubicBezTo>
                  <a:pt x="8533" y="7793"/>
                  <a:pt x="8405" y="7677"/>
                  <a:pt x="8270" y="7663"/>
                </a:cubicBezTo>
                <a:close/>
                <a:moveTo>
                  <a:pt x="6527" y="8016"/>
                </a:moveTo>
                <a:lnTo>
                  <a:pt x="6527" y="12547"/>
                </a:lnTo>
                <a:lnTo>
                  <a:pt x="6527" y="17077"/>
                </a:lnTo>
                <a:lnTo>
                  <a:pt x="6759" y="17077"/>
                </a:lnTo>
                <a:lnTo>
                  <a:pt x="6994" y="17077"/>
                </a:lnTo>
                <a:lnTo>
                  <a:pt x="6994" y="12547"/>
                </a:lnTo>
                <a:lnTo>
                  <a:pt x="6994" y="8016"/>
                </a:lnTo>
                <a:lnTo>
                  <a:pt x="6759" y="8016"/>
                </a:lnTo>
                <a:lnTo>
                  <a:pt x="6527" y="8016"/>
                </a:lnTo>
                <a:close/>
                <a:moveTo>
                  <a:pt x="8332" y="9098"/>
                </a:moveTo>
                <a:cubicBezTo>
                  <a:pt x="8457" y="9090"/>
                  <a:pt x="8580" y="9343"/>
                  <a:pt x="8689" y="9865"/>
                </a:cubicBezTo>
                <a:cubicBezTo>
                  <a:pt x="8918" y="10956"/>
                  <a:pt x="8922" y="13481"/>
                  <a:pt x="8698" y="14763"/>
                </a:cubicBezTo>
                <a:cubicBezTo>
                  <a:pt x="8591" y="15372"/>
                  <a:pt x="8461" y="15680"/>
                  <a:pt x="8314" y="15680"/>
                </a:cubicBezTo>
                <a:cubicBezTo>
                  <a:pt x="7804" y="15680"/>
                  <a:pt x="7561" y="11711"/>
                  <a:pt x="7961" y="9917"/>
                </a:cubicBezTo>
                <a:cubicBezTo>
                  <a:pt x="8080" y="9380"/>
                  <a:pt x="8208" y="9107"/>
                  <a:pt x="8332" y="9098"/>
                </a:cubicBezTo>
                <a:close/>
                <a:moveTo>
                  <a:pt x="16588" y="11322"/>
                </a:moveTo>
                <a:lnTo>
                  <a:pt x="16938" y="11397"/>
                </a:lnTo>
                <a:cubicBezTo>
                  <a:pt x="17189" y="11450"/>
                  <a:pt x="17326" y="11679"/>
                  <a:pt x="17424" y="12216"/>
                </a:cubicBezTo>
                <a:cubicBezTo>
                  <a:pt x="17607" y="13227"/>
                  <a:pt x="17596" y="13810"/>
                  <a:pt x="17370" y="14823"/>
                </a:cubicBezTo>
                <a:cubicBezTo>
                  <a:pt x="17239" y="15412"/>
                  <a:pt x="17093" y="15680"/>
                  <a:pt x="16901" y="15680"/>
                </a:cubicBezTo>
                <a:cubicBezTo>
                  <a:pt x="16575" y="15680"/>
                  <a:pt x="16531" y="15341"/>
                  <a:pt x="16564" y="13020"/>
                </a:cubicBezTo>
                <a:lnTo>
                  <a:pt x="16588" y="11322"/>
                </a:lnTo>
                <a:close/>
                <a:moveTo>
                  <a:pt x="59" y="11495"/>
                </a:moveTo>
                <a:cubicBezTo>
                  <a:pt x="27" y="11499"/>
                  <a:pt x="0" y="12848"/>
                  <a:pt x="0" y="14493"/>
                </a:cubicBezTo>
                <a:cubicBezTo>
                  <a:pt x="0" y="16140"/>
                  <a:pt x="31" y="17427"/>
                  <a:pt x="70" y="17363"/>
                </a:cubicBezTo>
                <a:cubicBezTo>
                  <a:pt x="208" y="17136"/>
                  <a:pt x="1625" y="13063"/>
                  <a:pt x="1628" y="12885"/>
                </a:cubicBezTo>
                <a:cubicBezTo>
                  <a:pt x="1631" y="12728"/>
                  <a:pt x="217" y="11477"/>
                  <a:pt x="59" y="11495"/>
                </a:cubicBezTo>
                <a:close/>
                <a:moveTo>
                  <a:pt x="2905" y="13584"/>
                </a:moveTo>
                <a:cubicBezTo>
                  <a:pt x="2865" y="13584"/>
                  <a:pt x="184" y="21080"/>
                  <a:pt x="84" y="21472"/>
                </a:cubicBezTo>
                <a:cubicBezTo>
                  <a:pt x="66" y="21542"/>
                  <a:pt x="705" y="21600"/>
                  <a:pt x="1503" y="21600"/>
                </a:cubicBezTo>
                <a:lnTo>
                  <a:pt x="2952" y="21600"/>
                </a:lnTo>
                <a:lnTo>
                  <a:pt x="2952" y="17596"/>
                </a:lnTo>
                <a:cubicBezTo>
                  <a:pt x="2952" y="15392"/>
                  <a:pt x="2931" y="13584"/>
                  <a:pt x="2905" y="13584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73" name="687474703a2f2f73746f726167652e6d64732e79616e6465782e6e65742f6765742d646576746f6f6c732d6f70656e736f757263652f3235303835342f636174626f6f73742d6c6f676f2e706e67.png" descr="687474703a2f2f73746f726167652e6d64732e79616e6465782e6e65742f6765742d646576746f6f6c732d6f70656e736f757263652f3235303835342f636174626f6f73742d6c6f676f2e706e67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502851" y="4946306"/>
            <a:ext cx="6109044" cy="2568204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1*yhE3CBwTrlXcAIvNJNTQiA.png" descr="1*yhE3CBwTrlXcAIvNJNTQiA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80133" y="5757333"/>
            <a:ext cx="7670801" cy="42615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autogluon.png" descr="autogluon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1895666" y="8699229"/>
            <a:ext cx="6109045" cy="1486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facebook-prophet.png" descr="facebook-prophet.png"/>
          <p:cNvPicPr>
            <a:picLocks noChangeAspect="1"/>
          </p:cNvPicPr>
          <p:nvPr/>
        </p:nvPicPr>
        <p:blipFill>
          <a:blip r:embed="rId7">
            <a:extLst/>
          </a:blip>
          <a:srcRect l="25915" t="29877" r="25700" b="29188"/>
          <a:stretch>
            <a:fillRect/>
          </a:stretch>
        </p:blipFill>
        <p:spPr>
          <a:xfrm>
            <a:off x="12143845" y="10490336"/>
            <a:ext cx="4143376" cy="17526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7" fill="norm" stroke="1" extrusionOk="0">
                <a:moveTo>
                  <a:pt x="19639" y="5"/>
                </a:moveTo>
                <a:cubicBezTo>
                  <a:pt x="18204" y="-7"/>
                  <a:pt x="15581" y="5"/>
                  <a:pt x="10765" y="30"/>
                </a:cubicBezTo>
                <a:cubicBezTo>
                  <a:pt x="1103" y="78"/>
                  <a:pt x="269" y="91"/>
                  <a:pt x="149" y="225"/>
                </a:cubicBezTo>
                <a:lnTo>
                  <a:pt x="19" y="372"/>
                </a:lnTo>
                <a:lnTo>
                  <a:pt x="10" y="10798"/>
                </a:lnTo>
                <a:lnTo>
                  <a:pt x="0" y="21224"/>
                </a:lnTo>
                <a:lnTo>
                  <a:pt x="85" y="21361"/>
                </a:lnTo>
                <a:cubicBezTo>
                  <a:pt x="132" y="21434"/>
                  <a:pt x="204" y="21513"/>
                  <a:pt x="244" y="21537"/>
                </a:cubicBezTo>
                <a:cubicBezTo>
                  <a:pt x="284" y="21561"/>
                  <a:pt x="5038" y="21581"/>
                  <a:pt x="10808" y="21586"/>
                </a:cubicBezTo>
                <a:cubicBezTo>
                  <a:pt x="19198" y="21593"/>
                  <a:pt x="21317" y="21572"/>
                  <a:pt x="21391" y="21483"/>
                </a:cubicBezTo>
                <a:lnTo>
                  <a:pt x="21484" y="21376"/>
                </a:lnTo>
                <a:lnTo>
                  <a:pt x="21494" y="17949"/>
                </a:lnTo>
                <a:cubicBezTo>
                  <a:pt x="21501" y="15402"/>
                  <a:pt x="21515" y="14469"/>
                  <a:pt x="21550" y="14312"/>
                </a:cubicBezTo>
                <a:cubicBezTo>
                  <a:pt x="21584" y="14160"/>
                  <a:pt x="21600" y="12420"/>
                  <a:pt x="21600" y="10710"/>
                </a:cubicBezTo>
                <a:cubicBezTo>
                  <a:pt x="21600" y="9000"/>
                  <a:pt x="21584" y="7320"/>
                  <a:pt x="21550" y="7293"/>
                </a:cubicBezTo>
                <a:cubicBezTo>
                  <a:pt x="21514" y="7265"/>
                  <a:pt x="21503" y="6480"/>
                  <a:pt x="21503" y="3759"/>
                </a:cubicBezTo>
                <a:lnTo>
                  <a:pt x="21503" y="259"/>
                </a:lnTo>
                <a:lnTo>
                  <a:pt x="21376" y="118"/>
                </a:lnTo>
                <a:cubicBezTo>
                  <a:pt x="21318" y="52"/>
                  <a:pt x="21073" y="17"/>
                  <a:pt x="19639" y="5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ÇÖZÜM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279" name="MODEL SEÇİMİ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MODEL SEÇİMİ</a:t>
            </a:r>
          </a:p>
        </p:txBody>
      </p:sp>
      <p:sp>
        <p:nvSpPr>
          <p:cNvPr id="280" name="LGBM…"/>
          <p:cNvSpPr txBox="1"/>
          <p:nvPr/>
        </p:nvSpPr>
        <p:spPr>
          <a:xfrm>
            <a:off x="3151319" y="4102099"/>
            <a:ext cx="3080614" cy="551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LGBM</a:t>
            </a:r>
          </a:p>
          <a:p>
            <a:pPr/>
            <a:r>
              <a:t>CatBoost</a:t>
            </a:r>
          </a:p>
          <a:p>
            <a:pPr/>
            <a:r>
              <a:t>XGBoost</a:t>
            </a:r>
          </a:p>
          <a:p>
            <a:pPr/>
            <a:r>
              <a:t>Autogluon</a:t>
            </a:r>
          </a:p>
          <a:p>
            <a:pPr/>
            <a:r>
              <a:t>FBProphet</a:t>
            </a:r>
          </a:p>
        </p:txBody>
      </p:sp>
      <p:pic>
        <p:nvPicPr>
          <p:cNvPr id="281" name="yapıştırılan-film.png" descr="yapıştırılan-film.png"/>
          <p:cNvPicPr>
            <a:picLocks noChangeAspect="1"/>
          </p:cNvPicPr>
          <p:nvPr/>
        </p:nvPicPr>
        <p:blipFill>
          <a:blip r:embed="rId2">
            <a:extLst/>
          </a:blip>
          <a:srcRect l="10198" t="14655" r="11046" b="31904"/>
          <a:stretch>
            <a:fillRect/>
          </a:stretch>
        </p:blipFill>
        <p:spPr>
          <a:xfrm>
            <a:off x="12241105" y="6086210"/>
            <a:ext cx="5859860" cy="13065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4009"/>
                </a:lnTo>
                <a:cubicBezTo>
                  <a:pt x="0" y="6213"/>
                  <a:pt x="14" y="8011"/>
                  <a:pt x="32" y="8011"/>
                </a:cubicBezTo>
                <a:cubicBezTo>
                  <a:pt x="75" y="8011"/>
                  <a:pt x="2661" y="697"/>
                  <a:pt x="2755" y="308"/>
                </a:cubicBezTo>
                <a:cubicBezTo>
                  <a:pt x="2797" y="133"/>
                  <a:pt x="2227" y="0"/>
                  <a:pt x="1415" y="0"/>
                </a:cubicBezTo>
                <a:lnTo>
                  <a:pt x="0" y="0"/>
                </a:lnTo>
                <a:close/>
                <a:moveTo>
                  <a:pt x="16083" y="4081"/>
                </a:moveTo>
                <a:lnTo>
                  <a:pt x="16083" y="10577"/>
                </a:lnTo>
                <a:lnTo>
                  <a:pt x="16083" y="17073"/>
                </a:lnTo>
                <a:lnTo>
                  <a:pt x="16724" y="17073"/>
                </a:lnTo>
                <a:cubicBezTo>
                  <a:pt x="17685" y="17071"/>
                  <a:pt x="18112" y="15609"/>
                  <a:pt x="17992" y="12742"/>
                </a:cubicBezTo>
                <a:cubicBezTo>
                  <a:pt x="17955" y="11836"/>
                  <a:pt x="17877" y="11351"/>
                  <a:pt x="17707" y="10957"/>
                </a:cubicBezTo>
                <a:lnTo>
                  <a:pt x="17475" y="10419"/>
                </a:lnTo>
                <a:lnTo>
                  <a:pt x="17676" y="9343"/>
                </a:lnTo>
                <a:cubicBezTo>
                  <a:pt x="17827" y="8543"/>
                  <a:pt x="17872" y="7950"/>
                  <a:pt x="17855" y="7040"/>
                </a:cubicBezTo>
                <a:cubicBezTo>
                  <a:pt x="17819" y="5145"/>
                  <a:pt x="17560" y="4497"/>
                  <a:pt x="16753" y="4271"/>
                </a:cubicBezTo>
                <a:lnTo>
                  <a:pt x="16083" y="4081"/>
                </a:lnTo>
                <a:close/>
                <a:moveTo>
                  <a:pt x="2875" y="4114"/>
                </a:moveTo>
                <a:lnTo>
                  <a:pt x="2622" y="4849"/>
                </a:lnTo>
                <a:cubicBezTo>
                  <a:pt x="2483" y="5256"/>
                  <a:pt x="2134" y="6257"/>
                  <a:pt x="1846" y="7067"/>
                </a:cubicBezTo>
                <a:cubicBezTo>
                  <a:pt x="1558" y="7876"/>
                  <a:pt x="1321" y="8624"/>
                  <a:pt x="1321" y="8727"/>
                </a:cubicBezTo>
                <a:cubicBezTo>
                  <a:pt x="1321" y="8830"/>
                  <a:pt x="1609" y="9159"/>
                  <a:pt x="1962" y="9461"/>
                </a:cubicBezTo>
                <a:cubicBezTo>
                  <a:pt x="2963" y="10320"/>
                  <a:pt x="2875" y="10543"/>
                  <a:pt x="2875" y="7106"/>
                </a:cubicBezTo>
                <a:lnTo>
                  <a:pt x="2875" y="4114"/>
                </a:lnTo>
                <a:close/>
                <a:moveTo>
                  <a:pt x="4585" y="4180"/>
                </a:moveTo>
                <a:lnTo>
                  <a:pt x="4585" y="10623"/>
                </a:lnTo>
                <a:lnTo>
                  <a:pt x="4585" y="17073"/>
                </a:lnTo>
                <a:lnTo>
                  <a:pt x="5400" y="17073"/>
                </a:lnTo>
                <a:cubicBezTo>
                  <a:pt x="6158" y="17073"/>
                  <a:pt x="6216" y="17024"/>
                  <a:pt x="6216" y="16390"/>
                </a:cubicBezTo>
                <a:cubicBezTo>
                  <a:pt x="6216" y="15786"/>
                  <a:pt x="6152" y="15700"/>
                  <a:pt x="5653" y="15609"/>
                </a:cubicBezTo>
                <a:lnTo>
                  <a:pt x="5089" y="15504"/>
                </a:lnTo>
                <a:lnTo>
                  <a:pt x="5068" y="9842"/>
                </a:lnTo>
                <a:lnTo>
                  <a:pt x="5046" y="4180"/>
                </a:lnTo>
                <a:lnTo>
                  <a:pt x="4816" y="4180"/>
                </a:lnTo>
                <a:lnTo>
                  <a:pt x="4585" y="4180"/>
                </a:lnTo>
                <a:close/>
                <a:moveTo>
                  <a:pt x="9635" y="4180"/>
                </a:moveTo>
                <a:lnTo>
                  <a:pt x="9635" y="10623"/>
                </a:lnTo>
                <a:lnTo>
                  <a:pt x="9635" y="17073"/>
                </a:lnTo>
                <a:lnTo>
                  <a:pt x="9867" y="17073"/>
                </a:lnTo>
                <a:lnTo>
                  <a:pt x="10100" y="17073"/>
                </a:lnTo>
                <a:lnTo>
                  <a:pt x="10100" y="14048"/>
                </a:lnTo>
                <a:cubicBezTo>
                  <a:pt x="10100" y="11420"/>
                  <a:pt x="10123" y="10916"/>
                  <a:pt x="10270" y="10216"/>
                </a:cubicBezTo>
                <a:cubicBezTo>
                  <a:pt x="10363" y="9772"/>
                  <a:pt x="10518" y="9409"/>
                  <a:pt x="10615" y="9409"/>
                </a:cubicBezTo>
                <a:cubicBezTo>
                  <a:pt x="10922" y="9409"/>
                  <a:pt x="11033" y="10634"/>
                  <a:pt x="11033" y="14015"/>
                </a:cubicBezTo>
                <a:cubicBezTo>
                  <a:pt x="11033" y="17045"/>
                  <a:pt x="11034" y="17073"/>
                  <a:pt x="11226" y="17073"/>
                </a:cubicBezTo>
                <a:lnTo>
                  <a:pt x="11421" y="17073"/>
                </a:lnTo>
                <a:lnTo>
                  <a:pt x="11421" y="13320"/>
                </a:lnTo>
                <a:cubicBezTo>
                  <a:pt x="11421" y="9151"/>
                  <a:pt x="11345" y="8229"/>
                  <a:pt x="10976" y="7913"/>
                </a:cubicBezTo>
                <a:cubicBezTo>
                  <a:pt x="10858" y="7811"/>
                  <a:pt x="10630" y="7930"/>
                  <a:pt x="10472" y="8175"/>
                </a:cubicBezTo>
                <a:cubicBezTo>
                  <a:pt x="10313" y="8421"/>
                  <a:pt x="10165" y="8534"/>
                  <a:pt x="10142" y="8431"/>
                </a:cubicBezTo>
                <a:cubicBezTo>
                  <a:pt x="10119" y="8328"/>
                  <a:pt x="10100" y="7332"/>
                  <a:pt x="10100" y="6214"/>
                </a:cubicBezTo>
                <a:cubicBezTo>
                  <a:pt x="10100" y="4188"/>
                  <a:pt x="10100" y="4180"/>
                  <a:pt x="9867" y="4180"/>
                </a:cubicBezTo>
                <a:lnTo>
                  <a:pt x="9635" y="4180"/>
                </a:lnTo>
                <a:close/>
                <a:moveTo>
                  <a:pt x="18491" y="4180"/>
                </a:moveTo>
                <a:lnTo>
                  <a:pt x="18491" y="10623"/>
                </a:lnTo>
                <a:lnTo>
                  <a:pt x="18491" y="17073"/>
                </a:lnTo>
                <a:lnTo>
                  <a:pt x="18683" y="17073"/>
                </a:lnTo>
                <a:lnTo>
                  <a:pt x="18876" y="17073"/>
                </a:lnTo>
                <a:lnTo>
                  <a:pt x="18898" y="12631"/>
                </a:lnTo>
                <a:cubicBezTo>
                  <a:pt x="18910" y="10141"/>
                  <a:pt x="18950" y="8189"/>
                  <a:pt x="18992" y="8189"/>
                </a:cubicBezTo>
                <a:cubicBezTo>
                  <a:pt x="19032" y="8189"/>
                  <a:pt x="19246" y="10150"/>
                  <a:pt x="19466" y="12545"/>
                </a:cubicBezTo>
                <a:cubicBezTo>
                  <a:pt x="19817" y="16369"/>
                  <a:pt x="19888" y="16896"/>
                  <a:pt x="20048" y="16896"/>
                </a:cubicBezTo>
                <a:cubicBezTo>
                  <a:pt x="20208" y="16896"/>
                  <a:pt x="20278" y="16363"/>
                  <a:pt x="20639" y="12368"/>
                </a:cubicBezTo>
                <a:cubicBezTo>
                  <a:pt x="20864" y="9877"/>
                  <a:pt x="21076" y="7916"/>
                  <a:pt x="21110" y="8011"/>
                </a:cubicBezTo>
                <a:cubicBezTo>
                  <a:pt x="21144" y="8107"/>
                  <a:pt x="21167" y="10187"/>
                  <a:pt x="21161" y="12631"/>
                </a:cubicBezTo>
                <a:lnTo>
                  <a:pt x="21151" y="17073"/>
                </a:lnTo>
                <a:lnTo>
                  <a:pt x="21376" y="17073"/>
                </a:lnTo>
                <a:lnTo>
                  <a:pt x="21600" y="17073"/>
                </a:lnTo>
                <a:lnTo>
                  <a:pt x="21600" y="10623"/>
                </a:lnTo>
                <a:lnTo>
                  <a:pt x="21600" y="4180"/>
                </a:lnTo>
                <a:lnTo>
                  <a:pt x="21296" y="4180"/>
                </a:lnTo>
                <a:lnTo>
                  <a:pt x="20993" y="4180"/>
                </a:lnTo>
                <a:lnTo>
                  <a:pt x="20741" y="6883"/>
                </a:lnTo>
                <a:cubicBezTo>
                  <a:pt x="20603" y="8368"/>
                  <a:pt x="20418" y="10459"/>
                  <a:pt x="20327" y="11535"/>
                </a:cubicBezTo>
                <a:cubicBezTo>
                  <a:pt x="20237" y="12611"/>
                  <a:pt x="20127" y="13554"/>
                  <a:pt x="20084" y="13628"/>
                </a:cubicBezTo>
                <a:cubicBezTo>
                  <a:pt x="20042" y="13702"/>
                  <a:pt x="19815" y="11604"/>
                  <a:pt x="19580" y="8969"/>
                </a:cubicBezTo>
                <a:lnTo>
                  <a:pt x="19153" y="4180"/>
                </a:lnTo>
                <a:lnTo>
                  <a:pt x="18822" y="4180"/>
                </a:lnTo>
                <a:lnTo>
                  <a:pt x="18491" y="4180"/>
                </a:lnTo>
                <a:close/>
                <a:moveTo>
                  <a:pt x="6705" y="4337"/>
                </a:moveTo>
                <a:cubicBezTo>
                  <a:pt x="6687" y="4342"/>
                  <a:pt x="6669" y="4356"/>
                  <a:pt x="6653" y="4383"/>
                </a:cubicBezTo>
                <a:cubicBezTo>
                  <a:pt x="6505" y="4639"/>
                  <a:pt x="6484" y="5798"/>
                  <a:pt x="6624" y="6023"/>
                </a:cubicBezTo>
                <a:cubicBezTo>
                  <a:pt x="6739" y="6208"/>
                  <a:pt x="6993" y="5677"/>
                  <a:pt x="6993" y="5256"/>
                </a:cubicBezTo>
                <a:cubicBezTo>
                  <a:pt x="6993" y="4779"/>
                  <a:pt x="6831" y="4302"/>
                  <a:pt x="6705" y="4337"/>
                </a:cubicBezTo>
                <a:close/>
                <a:moveTo>
                  <a:pt x="14819" y="4468"/>
                </a:moveTo>
                <a:cubicBezTo>
                  <a:pt x="13800" y="4456"/>
                  <a:pt x="13270" y="6639"/>
                  <a:pt x="13270" y="10852"/>
                </a:cubicBezTo>
                <a:cubicBezTo>
                  <a:pt x="13270" y="13456"/>
                  <a:pt x="13470" y="15247"/>
                  <a:pt x="13876" y="16285"/>
                </a:cubicBezTo>
                <a:cubicBezTo>
                  <a:pt x="14238" y="17212"/>
                  <a:pt x="14933" y="17344"/>
                  <a:pt x="15347" y="16567"/>
                </a:cubicBezTo>
                <a:lnTo>
                  <a:pt x="15617" y="16062"/>
                </a:lnTo>
                <a:lnTo>
                  <a:pt x="15617" y="13261"/>
                </a:lnTo>
                <a:lnTo>
                  <a:pt x="15617" y="10452"/>
                </a:lnTo>
                <a:lnTo>
                  <a:pt x="15074" y="10452"/>
                </a:lnTo>
                <a:cubicBezTo>
                  <a:pt x="14587" y="10452"/>
                  <a:pt x="14530" y="10524"/>
                  <a:pt x="14530" y="11128"/>
                </a:cubicBezTo>
                <a:cubicBezTo>
                  <a:pt x="14530" y="11658"/>
                  <a:pt x="14593" y="11831"/>
                  <a:pt x="14821" y="11915"/>
                </a:cubicBezTo>
                <a:cubicBezTo>
                  <a:pt x="15104" y="12020"/>
                  <a:pt x="15114" y="12065"/>
                  <a:pt x="15137" y="13503"/>
                </a:cubicBezTo>
                <a:cubicBezTo>
                  <a:pt x="15159" y="14848"/>
                  <a:pt x="15140" y="15017"/>
                  <a:pt x="14942" y="15354"/>
                </a:cubicBezTo>
                <a:cubicBezTo>
                  <a:pt x="14158" y="16690"/>
                  <a:pt x="13411" y="12403"/>
                  <a:pt x="13803" y="8818"/>
                </a:cubicBezTo>
                <a:cubicBezTo>
                  <a:pt x="14077" y="6304"/>
                  <a:pt x="14674" y="5315"/>
                  <a:pt x="15255" y="6404"/>
                </a:cubicBezTo>
                <a:lnTo>
                  <a:pt x="15510" y="6876"/>
                </a:lnTo>
                <a:lnTo>
                  <a:pt x="15476" y="5872"/>
                </a:lnTo>
                <a:cubicBezTo>
                  <a:pt x="15433" y="4566"/>
                  <a:pt x="15393" y="4475"/>
                  <a:pt x="14819" y="4468"/>
                </a:cubicBezTo>
                <a:close/>
                <a:moveTo>
                  <a:pt x="12325" y="4573"/>
                </a:moveTo>
                <a:cubicBezTo>
                  <a:pt x="12277" y="4548"/>
                  <a:pt x="12210" y="4662"/>
                  <a:pt x="12116" y="4888"/>
                </a:cubicBezTo>
                <a:cubicBezTo>
                  <a:pt x="12020" y="5118"/>
                  <a:pt x="11965" y="5622"/>
                  <a:pt x="11965" y="6266"/>
                </a:cubicBezTo>
                <a:cubicBezTo>
                  <a:pt x="11965" y="6823"/>
                  <a:pt x="11930" y="7375"/>
                  <a:pt x="11888" y="7493"/>
                </a:cubicBezTo>
                <a:cubicBezTo>
                  <a:pt x="11845" y="7612"/>
                  <a:pt x="11810" y="8080"/>
                  <a:pt x="11810" y="8536"/>
                </a:cubicBezTo>
                <a:cubicBezTo>
                  <a:pt x="11810" y="8993"/>
                  <a:pt x="11845" y="9461"/>
                  <a:pt x="11888" y="9580"/>
                </a:cubicBezTo>
                <a:cubicBezTo>
                  <a:pt x="11930" y="9698"/>
                  <a:pt x="11965" y="11151"/>
                  <a:pt x="11965" y="12801"/>
                </a:cubicBezTo>
                <a:cubicBezTo>
                  <a:pt x="11965" y="15105"/>
                  <a:pt x="11995" y="15947"/>
                  <a:pt x="12094" y="16436"/>
                </a:cubicBezTo>
                <a:cubicBezTo>
                  <a:pt x="12181" y="16867"/>
                  <a:pt x="12331" y="17073"/>
                  <a:pt x="12559" y="17073"/>
                </a:cubicBezTo>
                <a:cubicBezTo>
                  <a:pt x="12845" y="17073"/>
                  <a:pt x="12897" y="16967"/>
                  <a:pt x="12897" y="16377"/>
                </a:cubicBezTo>
                <a:cubicBezTo>
                  <a:pt x="12897" y="15928"/>
                  <a:pt x="12846" y="15682"/>
                  <a:pt x="12752" y="15682"/>
                </a:cubicBezTo>
                <a:cubicBezTo>
                  <a:pt x="12496" y="15682"/>
                  <a:pt x="12424" y="14840"/>
                  <a:pt x="12448" y="12139"/>
                </a:cubicBezTo>
                <a:cubicBezTo>
                  <a:pt x="12470" y="9636"/>
                  <a:pt x="12474" y="9582"/>
                  <a:pt x="12684" y="9475"/>
                </a:cubicBezTo>
                <a:cubicBezTo>
                  <a:pt x="12849" y="9389"/>
                  <a:pt x="12897" y="9177"/>
                  <a:pt x="12897" y="8536"/>
                </a:cubicBezTo>
                <a:cubicBezTo>
                  <a:pt x="12897" y="7896"/>
                  <a:pt x="12849" y="7690"/>
                  <a:pt x="12684" y="7605"/>
                </a:cubicBezTo>
                <a:cubicBezTo>
                  <a:pt x="12492" y="7506"/>
                  <a:pt x="12468" y="7335"/>
                  <a:pt x="12447" y="6010"/>
                </a:cubicBezTo>
                <a:cubicBezTo>
                  <a:pt x="12431" y="5047"/>
                  <a:pt x="12405" y="4615"/>
                  <a:pt x="12325" y="4573"/>
                </a:cubicBezTo>
                <a:close/>
                <a:moveTo>
                  <a:pt x="16848" y="5984"/>
                </a:moveTo>
                <a:cubicBezTo>
                  <a:pt x="17333" y="5776"/>
                  <a:pt x="17602" y="8048"/>
                  <a:pt x="17232" y="9212"/>
                </a:cubicBezTo>
                <a:cubicBezTo>
                  <a:pt x="17017" y="9886"/>
                  <a:pt x="16636" y="9922"/>
                  <a:pt x="16581" y="9271"/>
                </a:cubicBezTo>
                <a:cubicBezTo>
                  <a:pt x="16558" y="9004"/>
                  <a:pt x="16550" y="8179"/>
                  <a:pt x="16563" y="7441"/>
                </a:cubicBezTo>
                <a:cubicBezTo>
                  <a:pt x="16586" y="6198"/>
                  <a:pt x="16608" y="6087"/>
                  <a:pt x="16848" y="5984"/>
                </a:cubicBezTo>
                <a:close/>
                <a:moveTo>
                  <a:pt x="8270" y="7664"/>
                </a:moveTo>
                <a:cubicBezTo>
                  <a:pt x="8046" y="7641"/>
                  <a:pt x="7804" y="7896"/>
                  <a:pt x="7667" y="8379"/>
                </a:cubicBezTo>
                <a:cubicBezTo>
                  <a:pt x="7161" y="10165"/>
                  <a:pt x="7207" y="15587"/>
                  <a:pt x="7739" y="16672"/>
                </a:cubicBezTo>
                <a:cubicBezTo>
                  <a:pt x="8007" y="17221"/>
                  <a:pt x="8403" y="17177"/>
                  <a:pt x="8598" y="16567"/>
                </a:cubicBezTo>
                <a:cubicBezTo>
                  <a:pt x="8785" y="15978"/>
                  <a:pt x="8858" y="16174"/>
                  <a:pt x="8858" y="17276"/>
                </a:cubicBezTo>
                <a:cubicBezTo>
                  <a:pt x="8858" y="18402"/>
                  <a:pt x="8439" y="19861"/>
                  <a:pt x="8116" y="19861"/>
                </a:cubicBezTo>
                <a:cubicBezTo>
                  <a:pt x="7972" y="19861"/>
                  <a:pt x="7762" y="20051"/>
                  <a:pt x="7650" y="20281"/>
                </a:cubicBezTo>
                <a:cubicBezTo>
                  <a:pt x="7466" y="20656"/>
                  <a:pt x="7460" y="20731"/>
                  <a:pt x="7588" y="20957"/>
                </a:cubicBezTo>
                <a:cubicBezTo>
                  <a:pt x="7847" y="21413"/>
                  <a:pt x="8556" y="21262"/>
                  <a:pt x="8820" y="20701"/>
                </a:cubicBezTo>
                <a:cubicBezTo>
                  <a:pt x="9228" y="19833"/>
                  <a:pt x="9323" y="18291"/>
                  <a:pt x="9323" y="12539"/>
                </a:cubicBezTo>
                <a:lnTo>
                  <a:pt x="9323" y="7664"/>
                </a:lnTo>
                <a:lnTo>
                  <a:pt x="9095" y="7664"/>
                </a:lnTo>
                <a:cubicBezTo>
                  <a:pt x="8969" y="7664"/>
                  <a:pt x="8845" y="7819"/>
                  <a:pt x="8818" y="8011"/>
                </a:cubicBezTo>
                <a:cubicBezTo>
                  <a:pt x="8786" y="8245"/>
                  <a:pt x="8723" y="8245"/>
                  <a:pt x="8625" y="8011"/>
                </a:cubicBezTo>
                <a:cubicBezTo>
                  <a:pt x="8532" y="7788"/>
                  <a:pt x="8404" y="7677"/>
                  <a:pt x="8270" y="7664"/>
                </a:cubicBezTo>
                <a:close/>
                <a:moveTo>
                  <a:pt x="6528" y="8011"/>
                </a:moveTo>
                <a:lnTo>
                  <a:pt x="6528" y="12545"/>
                </a:lnTo>
                <a:lnTo>
                  <a:pt x="6528" y="17073"/>
                </a:lnTo>
                <a:lnTo>
                  <a:pt x="6760" y="17073"/>
                </a:lnTo>
                <a:lnTo>
                  <a:pt x="6993" y="17073"/>
                </a:lnTo>
                <a:lnTo>
                  <a:pt x="6993" y="12545"/>
                </a:lnTo>
                <a:lnTo>
                  <a:pt x="6993" y="8011"/>
                </a:lnTo>
                <a:lnTo>
                  <a:pt x="6760" y="8011"/>
                </a:lnTo>
                <a:lnTo>
                  <a:pt x="6528" y="8011"/>
                </a:lnTo>
                <a:close/>
                <a:moveTo>
                  <a:pt x="8331" y="9094"/>
                </a:moveTo>
                <a:cubicBezTo>
                  <a:pt x="8456" y="9086"/>
                  <a:pt x="8579" y="9347"/>
                  <a:pt x="8688" y="9868"/>
                </a:cubicBezTo>
                <a:cubicBezTo>
                  <a:pt x="8917" y="10960"/>
                  <a:pt x="8922" y="13481"/>
                  <a:pt x="8697" y="14763"/>
                </a:cubicBezTo>
                <a:cubicBezTo>
                  <a:pt x="8590" y="15372"/>
                  <a:pt x="8461" y="15682"/>
                  <a:pt x="8314" y="15682"/>
                </a:cubicBezTo>
                <a:cubicBezTo>
                  <a:pt x="7804" y="15682"/>
                  <a:pt x="7560" y="11708"/>
                  <a:pt x="7960" y="9914"/>
                </a:cubicBezTo>
                <a:cubicBezTo>
                  <a:pt x="8079" y="9377"/>
                  <a:pt x="8207" y="9102"/>
                  <a:pt x="8331" y="9094"/>
                </a:cubicBezTo>
                <a:close/>
                <a:moveTo>
                  <a:pt x="16588" y="11325"/>
                </a:moveTo>
                <a:lnTo>
                  <a:pt x="16938" y="11397"/>
                </a:lnTo>
                <a:cubicBezTo>
                  <a:pt x="17188" y="11450"/>
                  <a:pt x="17326" y="11680"/>
                  <a:pt x="17423" y="12217"/>
                </a:cubicBezTo>
                <a:cubicBezTo>
                  <a:pt x="17607" y="13228"/>
                  <a:pt x="17595" y="13808"/>
                  <a:pt x="17369" y="14822"/>
                </a:cubicBezTo>
                <a:cubicBezTo>
                  <a:pt x="17238" y="15411"/>
                  <a:pt x="17091" y="15682"/>
                  <a:pt x="16900" y="15682"/>
                </a:cubicBezTo>
                <a:cubicBezTo>
                  <a:pt x="16573" y="15682"/>
                  <a:pt x="16532" y="15345"/>
                  <a:pt x="16565" y="13024"/>
                </a:cubicBezTo>
                <a:lnTo>
                  <a:pt x="16588" y="11325"/>
                </a:lnTo>
                <a:close/>
                <a:moveTo>
                  <a:pt x="59" y="11496"/>
                </a:moveTo>
                <a:cubicBezTo>
                  <a:pt x="26" y="11499"/>
                  <a:pt x="0" y="12843"/>
                  <a:pt x="0" y="14487"/>
                </a:cubicBezTo>
                <a:cubicBezTo>
                  <a:pt x="0" y="16135"/>
                  <a:pt x="31" y="17432"/>
                  <a:pt x="70" y="17368"/>
                </a:cubicBezTo>
                <a:cubicBezTo>
                  <a:pt x="208" y="17141"/>
                  <a:pt x="1625" y="13064"/>
                  <a:pt x="1628" y="12887"/>
                </a:cubicBezTo>
                <a:cubicBezTo>
                  <a:pt x="1631" y="12730"/>
                  <a:pt x="217" y="11478"/>
                  <a:pt x="59" y="11496"/>
                </a:cubicBezTo>
                <a:close/>
                <a:moveTo>
                  <a:pt x="2904" y="13589"/>
                </a:moveTo>
                <a:cubicBezTo>
                  <a:pt x="2864" y="13589"/>
                  <a:pt x="184" y="21083"/>
                  <a:pt x="83" y="21475"/>
                </a:cubicBezTo>
                <a:cubicBezTo>
                  <a:pt x="66" y="21545"/>
                  <a:pt x="705" y="21600"/>
                  <a:pt x="1502" y="21600"/>
                </a:cubicBezTo>
                <a:lnTo>
                  <a:pt x="2952" y="21600"/>
                </a:lnTo>
                <a:lnTo>
                  <a:pt x="2952" y="17598"/>
                </a:lnTo>
                <a:cubicBezTo>
                  <a:pt x="2952" y="15394"/>
                  <a:pt x="2930" y="13589"/>
                  <a:pt x="2904" y="1358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8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83" name="pngwing.com.png" descr="pngwing.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85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OPTİMİZASYON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00951"/>
                    </a:gs>
                    <a:gs pos="100000">
                      <a:srgbClr val="0ACBF8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OPTİMİZASYON MİMARİSİ</a:t>
            </a:r>
          </a:p>
        </p:txBody>
      </p:sp>
      <p:sp>
        <p:nvSpPr>
          <p:cNvPr id="288" name="HYPER-PARAMETER TUNING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HYPER-PARAMETER TUNING</a:t>
            </a:r>
          </a:p>
        </p:txBody>
      </p:sp>
      <p:pic>
        <p:nvPicPr>
          <p:cNvPr id="289" name="yapıştırılan-film.png" descr="yapıştırılan-film.png"/>
          <p:cNvPicPr>
            <a:picLocks noChangeAspect="1"/>
          </p:cNvPicPr>
          <p:nvPr/>
        </p:nvPicPr>
        <p:blipFill>
          <a:blip r:embed="rId2">
            <a:extLst/>
          </a:blip>
          <a:srcRect l="10198" t="14655" r="11046" b="31904"/>
          <a:stretch>
            <a:fillRect/>
          </a:stretch>
        </p:blipFill>
        <p:spPr>
          <a:xfrm>
            <a:off x="11866626" y="4842399"/>
            <a:ext cx="5859861" cy="13065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4009"/>
                </a:lnTo>
                <a:cubicBezTo>
                  <a:pt x="0" y="6213"/>
                  <a:pt x="14" y="8011"/>
                  <a:pt x="32" y="8011"/>
                </a:cubicBezTo>
                <a:cubicBezTo>
                  <a:pt x="75" y="8011"/>
                  <a:pt x="2661" y="697"/>
                  <a:pt x="2755" y="308"/>
                </a:cubicBezTo>
                <a:cubicBezTo>
                  <a:pt x="2797" y="133"/>
                  <a:pt x="2227" y="0"/>
                  <a:pt x="1415" y="0"/>
                </a:cubicBezTo>
                <a:lnTo>
                  <a:pt x="0" y="0"/>
                </a:lnTo>
                <a:close/>
                <a:moveTo>
                  <a:pt x="16083" y="4081"/>
                </a:moveTo>
                <a:lnTo>
                  <a:pt x="16083" y="10577"/>
                </a:lnTo>
                <a:lnTo>
                  <a:pt x="16083" y="17073"/>
                </a:lnTo>
                <a:lnTo>
                  <a:pt x="16724" y="17073"/>
                </a:lnTo>
                <a:cubicBezTo>
                  <a:pt x="17685" y="17071"/>
                  <a:pt x="18112" y="15609"/>
                  <a:pt x="17992" y="12742"/>
                </a:cubicBezTo>
                <a:cubicBezTo>
                  <a:pt x="17955" y="11836"/>
                  <a:pt x="17877" y="11351"/>
                  <a:pt x="17707" y="10957"/>
                </a:cubicBezTo>
                <a:lnTo>
                  <a:pt x="17475" y="10419"/>
                </a:lnTo>
                <a:lnTo>
                  <a:pt x="17676" y="9343"/>
                </a:lnTo>
                <a:cubicBezTo>
                  <a:pt x="17827" y="8543"/>
                  <a:pt x="17872" y="7950"/>
                  <a:pt x="17855" y="7040"/>
                </a:cubicBezTo>
                <a:cubicBezTo>
                  <a:pt x="17819" y="5145"/>
                  <a:pt x="17560" y="4497"/>
                  <a:pt x="16753" y="4271"/>
                </a:cubicBezTo>
                <a:lnTo>
                  <a:pt x="16083" y="4081"/>
                </a:lnTo>
                <a:close/>
                <a:moveTo>
                  <a:pt x="2875" y="4114"/>
                </a:moveTo>
                <a:lnTo>
                  <a:pt x="2622" y="4849"/>
                </a:lnTo>
                <a:cubicBezTo>
                  <a:pt x="2483" y="5256"/>
                  <a:pt x="2134" y="6257"/>
                  <a:pt x="1846" y="7067"/>
                </a:cubicBezTo>
                <a:cubicBezTo>
                  <a:pt x="1558" y="7876"/>
                  <a:pt x="1321" y="8624"/>
                  <a:pt x="1321" y="8727"/>
                </a:cubicBezTo>
                <a:cubicBezTo>
                  <a:pt x="1321" y="8830"/>
                  <a:pt x="1609" y="9159"/>
                  <a:pt x="1962" y="9461"/>
                </a:cubicBezTo>
                <a:cubicBezTo>
                  <a:pt x="2963" y="10320"/>
                  <a:pt x="2875" y="10543"/>
                  <a:pt x="2875" y="7106"/>
                </a:cubicBezTo>
                <a:lnTo>
                  <a:pt x="2875" y="4114"/>
                </a:lnTo>
                <a:close/>
                <a:moveTo>
                  <a:pt x="4585" y="4180"/>
                </a:moveTo>
                <a:lnTo>
                  <a:pt x="4585" y="10623"/>
                </a:lnTo>
                <a:lnTo>
                  <a:pt x="4585" y="17073"/>
                </a:lnTo>
                <a:lnTo>
                  <a:pt x="5400" y="17073"/>
                </a:lnTo>
                <a:cubicBezTo>
                  <a:pt x="6158" y="17073"/>
                  <a:pt x="6216" y="17024"/>
                  <a:pt x="6216" y="16390"/>
                </a:cubicBezTo>
                <a:cubicBezTo>
                  <a:pt x="6216" y="15786"/>
                  <a:pt x="6152" y="15700"/>
                  <a:pt x="5653" y="15609"/>
                </a:cubicBezTo>
                <a:lnTo>
                  <a:pt x="5089" y="15504"/>
                </a:lnTo>
                <a:lnTo>
                  <a:pt x="5068" y="9842"/>
                </a:lnTo>
                <a:lnTo>
                  <a:pt x="5046" y="4180"/>
                </a:lnTo>
                <a:lnTo>
                  <a:pt x="4816" y="4180"/>
                </a:lnTo>
                <a:lnTo>
                  <a:pt x="4585" y="4180"/>
                </a:lnTo>
                <a:close/>
                <a:moveTo>
                  <a:pt x="9635" y="4180"/>
                </a:moveTo>
                <a:lnTo>
                  <a:pt x="9635" y="10623"/>
                </a:lnTo>
                <a:lnTo>
                  <a:pt x="9635" y="17073"/>
                </a:lnTo>
                <a:lnTo>
                  <a:pt x="9867" y="17073"/>
                </a:lnTo>
                <a:lnTo>
                  <a:pt x="10100" y="17073"/>
                </a:lnTo>
                <a:lnTo>
                  <a:pt x="10100" y="14048"/>
                </a:lnTo>
                <a:cubicBezTo>
                  <a:pt x="10100" y="11420"/>
                  <a:pt x="10123" y="10916"/>
                  <a:pt x="10270" y="10216"/>
                </a:cubicBezTo>
                <a:cubicBezTo>
                  <a:pt x="10363" y="9772"/>
                  <a:pt x="10518" y="9409"/>
                  <a:pt x="10615" y="9409"/>
                </a:cubicBezTo>
                <a:cubicBezTo>
                  <a:pt x="10922" y="9409"/>
                  <a:pt x="11033" y="10634"/>
                  <a:pt x="11033" y="14015"/>
                </a:cubicBezTo>
                <a:cubicBezTo>
                  <a:pt x="11033" y="17045"/>
                  <a:pt x="11034" y="17073"/>
                  <a:pt x="11226" y="17073"/>
                </a:cubicBezTo>
                <a:lnTo>
                  <a:pt x="11421" y="17073"/>
                </a:lnTo>
                <a:lnTo>
                  <a:pt x="11421" y="13320"/>
                </a:lnTo>
                <a:cubicBezTo>
                  <a:pt x="11421" y="9151"/>
                  <a:pt x="11345" y="8229"/>
                  <a:pt x="10976" y="7913"/>
                </a:cubicBezTo>
                <a:cubicBezTo>
                  <a:pt x="10858" y="7811"/>
                  <a:pt x="10630" y="7930"/>
                  <a:pt x="10472" y="8175"/>
                </a:cubicBezTo>
                <a:cubicBezTo>
                  <a:pt x="10313" y="8421"/>
                  <a:pt x="10165" y="8534"/>
                  <a:pt x="10142" y="8431"/>
                </a:cubicBezTo>
                <a:cubicBezTo>
                  <a:pt x="10119" y="8328"/>
                  <a:pt x="10100" y="7332"/>
                  <a:pt x="10100" y="6214"/>
                </a:cubicBezTo>
                <a:cubicBezTo>
                  <a:pt x="10100" y="4188"/>
                  <a:pt x="10100" y="4180"/>
                  <a:pt x="9867" y="4180"/>
                </a:cubicBezTo>
                <a:lnTo>
                  <a:pt x="9635" y="4180"/>
                </a:lnTo>
                <a:close/>
                <a:moveTo>
                  <a:pt x="18491" y="4180"/>
                </a:moveTo>
                <a:lnTo>
                  <a:pt x="18491" y="10623"/>
                </a:lnTo>
                <a:lnTo>
                  <a:pt x="18491" y="17073"/>
                </a:lnTo>
                <a:lnTo>
                  <a:pt x="18683" y="17073"/>
                </a:lnTo>
                <a:lnTo>
                  <a:pt x="18876" y="17073"/>
                </a:lnTo>
                <a:lnTo>
                  <a:pt x="18898" y="12631"/>
                </a:lnTo>
                <a:cubicBezTo>
                  <a:pt x="18910" y="10141"/>
                  <a:pt x="18950" y="8189"/>
                  <a:pt x="18992" y="8189"/>
                </a:cubicBezTo>
                <a:cubicBezTo>
                  <a:pt x="19032" y="8189"/>
                  <a:pt x="19246" y="10150"/>
                  <a:pt x="19466" y="12545"/>
                </a:cubicBezTo>
                <a:cubicBezTo>
                  <a:pt x="19817" y="16369"/>
                  <a:pt x="19888" y="16896"/>
                  <a:pt x="20048" y="16896"/>
                </a:cubicBezTo>
                <a:cubicBezTo>
                  <a:pt x="20208" y="16896"/>
                  <a:pt x="20278" y="16363"/>
                  <a:pt x="20639" y="12368"/>
                </a:cubicBezTo>
                <a:cubicBezTo>
                  <a:pt x="20864" y="9877"/>
                  <a:pt x="21076" y="7916"/>
                  <a:pt x="21110" y="8011"/>
                </a:cubicBezTo>
                <a:cubicBezTo>
                  <a:pt x="21144" y="8107"/>
                  <a:pt x="21167" y="10187"/>
                  <a:pt x="21161" y="12631"/>
                </a:cubicBezTo>
                <a:lnTo>
                  <a:pt x="21151" y="17073"/>
                </a:lnTo>
                <a:lnTo>
                  <a:pt x="21376" y="17073"/>
                </a:lnTo>
                <a:lnTo>
                  <a:pt x="21600" y="17073"/>
                </a:lnTo>
                <a:lnTo>
                  <a:pt x="21600" y="10623"/>
                </a:lnTo>
                <a:lnTo>
                  <a:pt x="21600" y="4180"/>
                </a:lnTo>
                <a:lnTo>
                  <a:pt x="21296" y="4180"/>
                </a:lnTo>
                <a:lnTo>
                  <a:pt x="20993" y="4180"/>
                </a:lnTo>
                <a:lnTo>
                  <a:pt x="20741" y="6883"/>
                </a:lnTo>
                <a:cubicBezTo>
                  <a:pt x="20603" y="8368"/>
                  <a:pt x="20418" y="10459"/>
                  <a:pt x="20327" y="11535"/>
                </a:cubicBezTo>
                <a:cubicBezTo>
                  <a:pt x="20237" y="12611"/>
                  <a:pt x="20127" y="13554"/>
                  <a:pt x="20084" y="13628"/>
                </a:cubicBezTo>
                <a:cubicBezTo>
                  <a:pt x="20042" y="13702"/>
                  <a:pt x="19815" y="11604"/>
                  <a:pt x="19580" y="8969"/>
                </a:cubicBezTo>
                <a:lnTo>
                  <a:pt x="19153" y="4180"/>
                </a:lnTo>
                <a:lnTo>
                  <a:pt x="18822" y="4180"/>
                </a:lnTo>
                <a:lnTo>
                  <a:pt x="18491" y="4180"/>
                </a:lnTo>
                <a:close/>
                <a:moveTo>
                  <a:pt x="6705" y="4337"/>
                </a:moveTo>
                <a:cubicBezTo>
                  <a:pt x="6687" y="4342"/>
                  <a:pt x="6669" y="4356"/>
                  <a:pt x="6653" y="4383"/>
                </a:cubicBezTo>
                <a:cubicBezTo>
                  <a:pt x="6505" y="4639"/>
                  <a:pt x="6484" y="5798"/>
                  <a:pt x="6624" y="6023"/>
                </a:cubicBezTo>
                <a:cubicBezTo>
                  <a:pt x="6739" y="6208"/>
                  <a:pt x="6993" y="5677"/>
                  <a:pt x="6993" y="5256"/>
                </a:cubicBezTo>
                <a:cubicBezTo>
                  <a:pt x="6993" y="4779"/>
                  <a:pt x="6831" y="4302"/>
                  <a:pt x="6705" y="4337"/>
                </a:cubicBezTo>
                <a:close/>
                <a:moveTo>
                  <a:pt x="14819" y="4468"/>
                </a:moveTo>
                <a:cubicBezTo>
                  <a:pt x="13800" y="4456"/>
                  <a:pt x="13270" y="6639"/>
                  <a:pt x="13270" y="10852"/>
                </a:cubicBezTo>
                <a:cubicBezTo>
                  <a:pt x="13270" y="13456"/>
                  <a:pt x="13470" y="15247"/>
                  <a:pt x="13876" y="16285"/>
                </a:cubicBezTo>
                <a:cubicBezTo>
                  <a:pt x="14238" y="17212"/>
                  <a:pt x="14933" y="17344"/>
                  <a:pt x="15347" y="16567"/>
                </a:cubicBezTo>
                <a:lnTo>
                  <a:pt x="15617" y="16062"/>
                </a:lnTo>
                <a:lnTo>
                  <a:pt x="15617" y="13261"/>
                </a:lnTo>
                <a:lnTo>
                  <a:pt x="15617" y="10452"/>
                </a:lnTo>
                <a:lnTo>
                  <a:pt x="15074" y="10452"/>
                </a:lnTo>
                <a:cubicBezTo>
                  <a:pt x="14587" y="10452"/>
                  <a:pt x="14530" y="10524"/>
                  <a:pt x="14530" y="11128"/>
                </a:cubicBezTo>
                <a:cubicBezTo>
                  <a:pt x="14530" y="11658"/>
                  <a:pt x="14593" y="11831"/>
                  <a:pt x="14821" y="11915"/>
                </a:cubicBezTo>
                <a:cubicBezTo>
                  <a:pt x="15104" y="12020"/>
                  <a:pt x="15114" y="12065"/>
                  <a:pt x="15137" y="13503"/>
                </a:cubicBezTo>
                <a:cubicBezTo>
                  <a:pt x="15159" y="14848"/>
                  <a:pt x="15140" y="15017"/>
                  <a:pt x="14942" y="15354"/>
                </a:cubicBezTo>
                <a:cubicBezTo>
                  <a:pt x="14158" y="16690"/>
                  <a:pt x="13411" y="12403"/>
                  <a:pt x="13803" y="8818"/>
                </a:cubicBezTo>
                <a:cubicBezTo>
                  <a:pt x="14077" y="6304"/>
                  <a:pt x="14674" y="5315"/>
                  <a:pt x="15255" y="6404"/>
                </a:cubicBezTo>
                <a:lnTo>
                  <a:pt x="15510" y="6876"/>
                </a:lnTo>
                <a:lnTo>
                  <a:pt x="15476" y="5872"/>
                </a:lnTo>
                <a:cubicBezTo>
                  <a:pt x="15433" y="4566"/>
                  <a:pt x="15393" y="4475"/>
                  <a:pt x="14819" y="4468"/>
                </a:cubicBezTo>
                <a:close/>
                <a:moveTo>
                  <a:pt x="12325" y="4573"/>
                </a:moveTo>
                <a:cubicBezTo>
                  <a:pt x="12277" y="4548"/>
                  <a:pt x="12210" y="4662"/>
                  <a:pt x="12116" y="4888"/>
                </a:cubicBezTo>
                <a:cubicBezTo>
                  <a:pt x="12020" y="5118"/>
                  <a:pt x="11965" y="5622"/>
                  <a:pt x="11965" y="6266"/>
                </a:cubicBezTo>
                <a:cubicBezTo>
                  <a:pt x="11965" y="6823"/>
                  <a:pt x="11930" y="7375"/>
                  <a:pt x="11888" y="7493"/>
                </a:cubicBezTo>
                <a:cubicBezTo>
                  <a:pt x="11845" y="7612"/>
                  <a:pt x="11810" y="8080"/>
                  <a:pt x="11810" y="8536"/>
                </a:cubicBezTo>
                <a:cubicBezTo>
                  <a:pt x="11810" y="8993"/>
                  <a:pt x="11845" y="9461"/>
                  <a:pt x="11888" y="9580"/>
                </a:cubicBezTo>
                <a:cubicBezTo>
                  <a:pt x="11930" y="9698"/>
                  <a:pt x="11965" y="11151"/>
                  <a:pt x="11965" y="12801"/>
                </a:cubicBezTo>
                <a:cubicBezTo>
                  <a:pt x="11965" y="15105"/>
                  <a:pt x="11995" y="15947"/>
                  <a:pt x="12094" y="16436"/>
                </a:cubicBezTo>
                <a:cubicBezTo>
                  <a:pt x="12181" y="16867"/>
                  <a:pt x="12331" y="17073"/>
                  <a:pt x="12559" y="17073"/>
                </a:cubicBezTo>
                <a:cubicBezTo>
                  <a:pt x="12845" y="17073"/>
                  <a:pt x="12897" y="16967"/>
                  <a:pt x="12897" y="16377"/>
                </a:cubicBezTo>
                <a:cubicBezTo>
                  <a:pt x="12897" y="15928"/>
                  <a:pt x="12846" y="15682"/>
                  <a:pt x="12752" y="15682"/>
                </a:cubicBezTo>
                <a:cubicBezTo>
                  <a:pt x="12496" y="15682"/>
                  <a:pt x="12424" y="14840"/>
                  <a:pt x="12448" y="12139"/>
                </a:cubicBezTo>
                <a:cubicBezTo>
                  <a:pt x="12470" y="9636"/>
                  <a:pt x="12474" y="9582"/>
                  <a:pt x="12684" y="9475"/>
                </a:cubicBezTo>
                <a:cubicBezTo>
                  <a:pt x="12849" y="9389"/>
                  <a:pt x="12897" y="9177"/>
                  <a:pt x="12897" y="8536"/>
                </a:cubicBezTo>
                <a:cubicBezTo>
                  <a:pt x="12897" y="7896"/>
                  <a:pt x="12849" y="7690"/>
                  <a:pt x="12684" y="7605"/>
                </a:cubicBezTo>
                <a:cubicBezTo>
                  <a:pt x="12492" y="7506"/>
                  <a:pt x="12468" y="7335"/>
                  <a:pt x="12447" y="6010"/>
                </a:cubicBezTo>
                <a:cubicBezTo>
                  <a:pt x="12431" y="5047"/>
                  <a:pt x="12405" y="4615"/>
                  <a:pt x="12325" y="4573"/>
                </a:cubicBezTo>
                <a:close/>
                <a:moveTo>
                  <a:pt x="16848" y="5984"/>
                </a:moveTo>
                <a:cubicBezTo>
                  <a:pt x="17333" y="5776"/>
                  <a:pt x="17602" y="8048"/>
                  <a:pt x="17232" y="9212"/>
                </a:cubicBezTo>
                <a:cubicBezTo>
                  <a:pt x="17017" y="9886"/>
                  <a:pt x="16636" y="9922"/>
                  <a:pt x="16581" y="9271"/>
                </a:cubicBezTo>
                <a:cubicBezTo>
                  <a:pt x="16558" y="9004"/>
                  <a:pt x="16550" y="8179"/>
                  <a:pt x="16563" y="7441"/>
                </a:cubicBezTo>
                <a:cubicBezTo>
                  <a:pt x="16586" y="6198"/>
                  <a:pt x="16608" y="6087"/>
                  <a:pt x="16848" y="5984"/>
                </a:cubicBezTo>
                <a:close/>
                <a:moveTo>
                  <a:pt x="8270" y="7664"/>
                </a:moveTo>
                <a:cubicBezTo>
                  <a:pt x="8046" y="7641"/>
                  <a:pt x="7804" y="7896"/>
                  <a:pt x="7667" y="8379"/>
                </a:cubicBezTo>
                <a:cubicBezTo>
                  <a:pt x="7161" y="10165"/>
                  <a:pt x="7207" y="15587"/>
                  <a:pt x="7739" y="16672"/>
                </a:cubicBezTo>
                <a:cubicBezTo>
                  <a:pt x="8007" y="17221"/>
                  <a:pt x="8403" y="17177"/>
                  <a:pt x="8598" y="16567"/>
                </a:cubicBezTo>
                <a:cubicBezTo>
                  <a:pt x="8785" y="15978"/>
                  <a:pt x="8858" y="16174"/>
                  <a:pt x="8858" y="17276"/>
                </a:cubicBezTo>
                <a:cubicBezTo>
                  <a:pt x="8858" y="18402"/>
                  <a:pt x="8439" y="19861"/>
                  <a:pt x="8116" y="19861"/>
                </a:cubicBezTo>
                <a:cubicBezTo>
                  <a:pt x="7972" y="19861"/>
                  <a:pt x="7762" y="20051"/>
                  <a:pt x="7650" y="20281"/>
                </a:cubicBezTo>
                <a:cubicBezTo>
                  <a:pt x="7466" y="20656"/>
                  <a:pt x="7460" y="20731"/>
                  <a:pt x="7588" y="20957"/>
                </a:cubicBezTo>
                <a:cubicBezTo>
                  <a:pt x="7847" y="21413"/>
                  <a:pt x="8556" y="21262"/>
                  <a:pt x="8820" y="20701"/>
                </a:cubicBezTo>
                <a:cubicBezTo>
                  <a:pt x="9228" y="19833"/>
                  <a:pt x="9323" y="18291"/>
                  <a:pt x="9323" y="12539"/>
                </a:cubicBezTo>
                <a:lnTo>
                  <a:pt x="9323" y="7664"/>
                </a:lnTo>
                <a:lnTo>
                  <a:pt x="9095" y="7664"/>
                </a:lnTo>
                <a:cubicBezTo>
                  <a:pt x="8969" y="7664"/>
                  <a:pt x="8845" y="7819"/>
                  <a:pt x="8818" y="8011"/>
                </a:cubicBezTo>
                <a:cubicBezTo>
                  <a:pt x="8786" y="8245"/>
                  <a:pt x="8723" y="8245"/>
                  <a:pt x="8625" y="8011"/>
                </a:cubicBezTo>
                <a:cubicBezTo>
                  <a:pt x="8532" y="7788"/>
                  <a:pt x="8404" y="7677"/>
                  <a:pt x="8270" y="7664"/>
                </a:cubicBezTo>
                <a:close/>
                <a:moveTo>
                  <a:pt x="6528" y="8011"/>
                </a:moveTo>
                <a:lnTo>
                  <a:pt x="6528" y="12545"/>
                </a:lnTo>
                <a:lnTo>
                  <a:pt x="6528" y="17073"/>
                </a:lnTo>
                <a:lnTo>
                  <a:pt x="6760" y="17073"/>
                </a:lnTo>
                <a:lnTo>
                  <a:pt x="6993" y="17073"/>
                </a:lnTo>
                <a:lnTo>
                  <a:pt x="6993" y="12545"/>
                </a:lnTo>
                <a:lnTo>
                  <a:pt x="6993" y="8011"/>
                </a:lnTo>
                <a:lnTo>
                  <a:pt x="6760" y="8011"/>
                </a:lnTo>
                <a:lnTo>
                  <a:pt x="6528" y="8011"/>
                </a:lnTo>
                <a:close/>
                <a:moveTo>
                  <a:pt x="8331" y="9094"/>
                </a:moveTo>
                <a:cubicBezTo>
                  <a:pt x="8456" y="9086"/>
                  <a:pt x="8579" y="9347"/>
                  <a:pt x="8688" y="9868"/>
                </a:cubicBezTo>
                <a:cubicBezTo>
                  <a:pt x="8917" y="10960"/>
                  <a:pt x="8922" y="13481"/>
                  <a:pt x="8697" y="14763"/>
                </a:cubicBezTo>
                <a:cubicBezTo>
                  <a:pt x="8590" y="15372"/>
                  <a:pt x="8461" y="15682"/>
                  <a:pt x="8314" y="15682"/>
                </a:cubicBezTo>
                <a:cubicBezTo>
                  <a:pt x="7804" y="15682"/>
                  <a:pt x="7560" y="11708"/>
                  <a:pt x="7960" y="9914"/>
                </a:cubicBezTo>
                <a:cubicBezTo>
                  <a:pt x="8079" y="9377"/>
                  <a:pt x="8207" y="9102"/>
                  <a:pt x="8331" y="9094"/>
                </a:cubicBezTo>
                <a:close/>
                <a:moveTo>
                  <a:pt x="16588" y="11325"/>
                </a:moveTo>
                <a:lnTo>
                  <a:pt x="16938" y="11397"/>
                </a:lnTo>
                <a:cubicBezTo>
                  <a:pt x="17188" y="11450"/>
                  <a:pt x="17326" y="11680"/>
                  <a:pt x="17423" y="12217"/>
                </a:cubicBezTo>
                <a:cubicBezTo>
                  <a:pt x="17607" y="13228"/>
                  <a:pt x="17595" y="13808"/>
                  <a:pt x="17369" y="14822"/>
                </a:cubicBezTo>
                <a:cubicBezTo>
                  <a:pt x="17238" y="15411"/>
                  <a:pt x="17091" y="15682"/>
                  <a:pt x="16900" y="15682"/>
                </a:cubicBezTo>
                <a:cubicBezTo>
                  <a:pt x="16573" y="15682"/>
                  <a:pt x="16532" y="15345"/>
                  <a:pt x="16565" y="13024"/>
                </a:cubicBezTo>
                <a:lnTo>
                  <a:pt x="16588" y="11325"/>
                </a:lnTo>
                <a:close/>
                <a:moveTo>
                  <a:pt x="59" y="11496"/>
                </a:moveTo>
                <a:cubicBezTo>
                  <a:pt x="26" y="11499"/>
                  <a:pt x="0" y="12843"/>
                  <a:pt x="0" y="14487"/>
                </a:cubicBezTo>
                <a:cubicBezTo>
                  <a:pt x="0" y="16135"/>
                  <a:pt x="31" y="17432"/>
                  <a:pt x="70" y="17368"/>
                </a:cubicBezTo>
                <a:cubicBezTo>
                  <a:pt x="208" y="17141"/>
                  <a:pt x="1625" y="13064"/>
                  <a:pt x="1628" y="12887"/>
                </a:cubicBezTo>
                <a:cubicBezTo>
                  <a:pt x="1631" y="12730"/>
                  <a:pt x="217" y="11478"/>
                  <a:pt x="59" y="11496"/>
                </a:cubicBezTo>
                <a:close/>
                <a:moveTo>
                  <a:pt x="2904" y="13589"/>
                </a:moveTo>
                <a:cubicBezTo>
                  <a:pt x="2864" y="13589"/>
                  <a:pt x="184" y="21083"/>
                  <a:pt x="83" y="21475"/>
                </a:cubicBezTo>
                <a:cubicBezTo>
                  <a:pt x="66" y="21545"/>
                  <a:pt x="705" y="21600"/>
                  <a:pt x="1502" y="21600"/>
                </a:cubicBezTo>
                <a:lnTo>
                  <a:pt x="2952" y="21600"/>
                </a:lnTo>
                <a:lnTo>
                  <a:pt x="2952" y="17598"/>
                </a:lnTo>
                <a:cubicBezTo>
                  <a:pt x="2952" y="15394"/>
                  <a:pt x="2930" y="13589"/>
                  <a:pt x="2904" y="1358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91" name="yapıştırılan-film.png" descr="yapıştırılan-film.png"/>
          <p:cNvPicPr>
            <a:picLocks noChangeAspect="1"/>
          </p:cNvPicPr>
          <p:nvPr/>
        </p:nvPicPr>
        <p:blipFill>
          <a:blip r:embed="rId3">
            <a:extLst/>
          </a:blip>
          <a:srcRect l="4055" t="9634" r="5629" b="22504"/>
          <a:stretch>
            <a:fillRect/>
          </a:stretch>
        </p:blipFill>
        <p:spPr>
          <a:xfrm>
            <a:off x="11564802" y="7238692"/>
            <a:ext cx="7099963" cy="14737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5" h="21541" fill="norm" stroke="1" extrusionOk="0">
                <a:moveTo>
                  <a:pt x="2451" y="2"/>
                </a:moveTo>
                <a:cubicBezTo>
                  <a:pt x="1907" y="45"/>
                  <a:pt x="1356" y="836"/>
                  <a:pt x="922" y="2415"/>
                </a:cubicBezTo>
                <a:cubicBezTo>
                  <a:pt x="242" y="4893"/>
                  <a:pt x="-45" y="7897"/>
                  <a:pt x="5" y="11993"/>
                </a:cubicBezTo>
                <a:cubicBezTo>
                  <a:pt x="36" y="14465"/>
                  <a:pt x="132" y="15696"/>
                  <a:pt x="443" y="17591"/>
                </a:cubicBezTo>
                <a:cubicBezTo>
                  <a:pt x="669" y="18969"/>
                  <a:pt x="1205" y="20519"/>
                  <a:pt x="1656" y="21100"/>
                </a:cubicBezTo>
                <a:cubicBezTo>
                  <a:pt x="1881" y="21390"/>
                  <a:pt x="2094" y="21538"/>
                  <a:pt x="2303" y="21541"/>
                </a:cubicBezTo>
                <a:cubicBezTo>
                  <a:pt x="2652" y="21546"/>
                  <a:pt x="2990" y="21147"/>
                  <a:pt x="3351" y="20329"/>
                </a:cubicBezTo>
                <a:cubicBezTo>
                  <a:pt x="4654" y="17380"/>
                  <a:pt x="5125" y="8484"/>
                  <a:pt x="4245" y="3459"/>
                </a:cubicBezTo>
                <a:cubicBezTo>
                  <a:pt x="3837" y="1126"/>
                  <a:pt x="3151" y="-54"/>
                  <a:pt x="2451" y="2"/>
                </a:cubicBezTo>
                <a:close/>
                <a:moveTo>
                  <a:pt x="6990" y="6186"/>
                </a:moveTo>
                <a:cubicBezTo>
                  <a:pt x="6755" y="6186"/>
                  <a:pt x="6665" y="6354"/>
                  <a:pt x="6513" y="7085"/>
                </a:cubicBezTo>
                <a:cubicBezTo>
                  <a:pt x="6335" y="7942"/>
                  <a:pt x="6326" y="8120"/>
                  <a:pt x="6326" y="10653"/>
                </a:cubicBezTo>
                <a:cubicBezTo>
                  <a:pt x="6326" y="13309"/>
                  <a:pt x="6385" y="14327"/>
                  <a:pt x="6577" y="15038"/>
                </a:cubicBezTo>
                <a:cubicBezTo>
                  <a:pt x="6633" y="15245"/>
                  <a:pt x="6836" y="15409"/>
                  <a:pt x="7030" y="15409"/>
                </a:cubicBezTo>
                <a:cubicBezTo>
                  <a:pt x="7598" y="15409"/>
                  <a:pt x="7734" y="14530"/>
                  <a:pt x="7734" y="10844"/>
                </a:cubicBezTo>
                <a:cubicBezTo>
                  <a:pt x="7734" y="7073"/>
                  <a:pt x="7592" y="6186"/>
                  <a:pt x="6990" y="6186"/>
                </a:cubicBezTo>
                <a:close/>
                <a:moveTo>
                  <a:pt x="9270" y="6186"/>
                </a:moveTo>
                <a:lnTo>
                  <a:pt x="9270" y="10809"/>
                </a:lnTo>
                <a:lnTo>
                  <a:pt x="9270" y="15433"/>
                </a:lnTo>
                <a:lnTo>
                  <a:pt x="9427" y="15433"/>
                </a:lnTo>
                <a:cubicBezTo>
                  <a:pt x="9561" y="15433"/>
                  <a:pt x="9585" y="15269"/>
                  <a:pt x="9602" y="14278"/>
                </a:cubicBezTo>
                <a:cubicBezTo>
                  <a:pt x="9622" y="13153"/>
                  <a:pt x="9630" y="13120"/>
                  <a:pt x="9930" y="12915"/>
                </a:cubicBezTo>
                <a:cubicBezTo>
                  <a:pt x="10350" y="12628"/>
                  <a:pt x="10535" y="11982"/>
                  <a:pt x="10588" y="10612"/>
                </a:cubicBezTo>
                <a:cubicBezTo>
                  <a:pt x="10704" y="7643"/>
                  <a:pt x="10402" y="6187"/>
                  <a:pt x="9670" y="6186"/>
                </a:cubicBezTo>
                <a:lnTo>
                  <a:pt x="9270" y="6186"/>
                </a:lnTo>
                <a:close/>
                <a:moveTo>
                  <a:pt x="12374" y="6186"/>
                </a:moveTo>
                <a:cubicBezTo>
                  <a:pt x="11704" y="6186"/>
                  <a:pt x="11701" y="6191"/>
                  <a:pt x="11701" y="6940"/>
                </a:cubicBezTo>
                <a:cubicBezTo>
                  <a:pt x="11701" y="7586"/>
                  <a:pt x="11735" y="7705"/>
                  <a:pt x="11941" y="7787"/>
                </a:cubicBezTo>
                <a:lnTo>
                  <a:pt x="12181" y="7880"/>
                </a:lnTo>
                <a:lnTo>
                  <a:pt x="12199" y="11656"/>
                </a:lnTo>
                <a:cubicBezTo>
                  <a:pt x="12217" y="15429"/>
                  <a:pt x="12218" y="15433"/>
                  <a:pt x="12374" y="15433"/>
                </a:cubicBezTo>
                <a:cubicBezTo>
                  <a:pt x="12530" y="15433"/>
                  <a:pt x="12529" y="15429"/>
                  <a:pt x="12547" y="11656"/>
                </a:cubicBezTo>
                <a:lnTo>
                  <a:pt x="12565" y="7880"/>
                </a:lnTo>
                <a:lnTo>
                  <a:pt x="12805" y="7787"/>
                </a:lnTo>
                <a:cubicBezTo>
                  <a:pt x="13011" y="7705"/>
                  <a:pt x="13045" y="7586"/>
                  <a:pt x="13045" y="6940"/>
                </a:cubicBezTo>
                <a:cubicBezTo>
                  <a:pt x="13045" y="6191"/>
                  <a:pt x="13043" y="6186"/>
                  <a:pt x="12374" y="6186"/>
                </a:cubicBezTo>
                <a:close/>
                <a:moveTo>
                  <a:pt x="14324" y="6186"/>
                </a:moveTo>
                <a:lnTo>
                  <a:pt x="14324" y="9748"/>
                </a:lnTo>
                <a:cubicBezTo>
                  <a:pt x="14324" y="13310"/>
                  <a:pt x="14370" y="14282"/>
                  <a:pt x="14575" y="15038"/>
                </a:cubicBezTo>
                <a:cubicBezTo>
                  <a:pt x="14631" y="15245"/>
                  <a:pt x="14835" y="15409"/>
                  <a:pt x="15028" y="15409"/>
                </a:cubicBezTo>
                <a:cubicBezTo>
                  <a:pt x="15634" y="15409"/>
                  <a:pt x="15733" y="14620"/>
                  <a:pt x="15733" y="9748"/>
                </a:cubicBezTo>
                <a:lnTo>
                  <a:pt x="15733" y="6186"/>
                </a:lnTo>
                <a:lnTo>
                  <a:pt x="15573" y="6186"/>
                </a:lnTo>
                <a:lnTo>
                  <a:pt x="15412" y="6186"/>
                </a:lnTo>
                <a:lnTo>
                  <a:pt x="15412" y="9353"/>
                </a:lnTo>
                <a:cubicBezTo>
                  <a:pt x="15412" y="12987"/>
                  <a:pt x="15336" y="13890"/>
                  <a:pt x="15028" y="13890"/>
                </a:cubicBezTo>
                <a:cubicBezTo>
                  <a:pt x="14721" y="13890"/>
                  <a:pt x="14645" y="12987"/>
                  <a:pt x="14645" y="9353"/>
                </a:cubicBezTo>
                <a:lnTo>
                  <a:pt x="14645" y="6186"/>
                </a:lnTo>
                <a:lnTo>
                  <a:pt x="14485" y="6186"/>
                </a:lnTo>
                <a:lnTo>
                  <a:pt x="14324" y="6186"/>
                </a:lnTo>
                <a:close/>
                <a:moveTo>
                  <a:pt x="17268" y="6186"/>
                </a:moveTo>
                <a:lnTo>
                  <a:pt x="17268" y="10809"/>
                </a:lnTo>
                <a:lnTo>
                  <a:pt x="17268" y="15433"/>
                </a:lnTo>
                <a:lnTo>
                  <a:pt x="17428" y="15433"/>
                </a:lnTo>
                <a:cubicBezTo>
                  <a:pt x="17585" y="15433"/>
                  <a:pt x="17588" y="15390"/>
                  <a:pt x="17588" y="12985"/>
                </a:cubicBezTo>
                <a:cubicBezTo>
                  <a:pt x="17588" y="11639"/>
                  <a:pt x="17614" y="10458"/>
                  <a:pt x="17646" y="10363"/>
                </a:cubicBezTo>
                <a:cubicBezTo>
                  <a:pt x="17679" y="10267"/>
                  <a:pt x="17839" y="11369"/>
                  <a:pt x="18002" y="12811"/>
                </a:cubicBezTo>
                <a:cubicBezTo>
                  <a:pt x="18270" y="15184"/>
                  <a:pt x="18317" y="15433"/>
                  <a:pt x="18487" y="15433"/>
                </a:cubicBezTo>
                <a:lnTo>
                  <a:pt x="18675" y="15433"/>
                </a:lnTo>
                <a:lnTo>
                  <a:pt x="18675" y="10809"/>
                </a:lnTo>
                <a:lnTo>
                  <a:pt x="18675" y="6186"/>
                </a:lnTo>
                <a:lnTo>
                  <a:pt x="18516" y="6186"/>
                </a:lnTo>
                <a:cubicBezTo>
                  <a:pt x="18358" y="6186"/>
                  <a:pt x="18356" y="6215"/>
                  <a:pt x="18356" y="8785"/>
                </a:cubicBezTo>
                <a:cubicBezTo>
                  <a:pt x="18356" y="10215"/>
                  <a:pt x="18329" y="11472"/>
                  <a:pt x="18296" y="11569"/>
                </a:cubicBezTo>
                <a:cubicBezTo>
                  <a:pt x="18263" y="11667"/>
                  <a:pt x="18098" y="10497"/>
                  <a:pt x="17928" y="8970"/>
                </a:cubicBezTo>
                <a:cubicBezTo>
                  <a:pt x="17655" y="6511"/>
                  <a:pt x="17600" y="6194"/>
                  <a:pt x="17444" y="6192"/>
                </a:cubicBezTo>
                <a:lnTo>
                  <a:pt x="17268" y="6186"/>
                </a:lnTo>
                <a:close/>
                <a:moveTo>
                  <a:pt x="20894" y="6226"/>
                </a:moveTo>
                <a:cubicBezTo>
                  <a:pt x="20594" y="6204"/>
                  <a:pt x="20369" y="6704"/>
                  <a:pt x="20284" y="7607"/>
                </a:cubicBezTo>
                <a:cubicBezTo>
                  <a:pt x="20244" y="8033"/>
                  <a:pt x="20212" y="9933"/>
                  <a:pt x="20212" y="11900"/>
                </a:cubicBezTo>
                <a:lnTo>
                  <a:pt x="20212" y="15433"/>
                </a:lnTo>
                <a:lnTo>
                  <a:pt x="20368" y="15433"/>
                </a:lnTo>
                <a:cubicBezTo>
                  <a:pt x="20506" y="15433"/>
                  <a:pt x="20527" y="15279"/>
                  <a:pt x="20544" y="14122"/>
                </a:cubicBezTo>
                <a:lnTo>
                  <a:pt x="20563" y="12811"/>
                </a:lnTo>
                <a:lnTo>
                  <a:pt x="20883" y="12811"/>
                </a:lnTo>
                <a:lnTo>
                  <a:pt x="21203" y="12811"/>
                </a:lnTo>
                <a:lnTo>
                  <a:pt x="21222" y="14122"/>
                </a:lnTo>
                <a:cubicBezTo>
                  <a:pt x="21240" y="15279"/>
                  <a:pt x="21260" y="15433"/>
                  <a:pt x="21398" y="15433"/>
                </a:cubicBezTo>
                <a:lnTo>
                  <a:pt x="21555" y="15433"/>
                </a:lnTo>
                <a:lnTo>
                  <a:pt x="21555" y="11616"/>
                </a:lnTo>
                <a:cubicBezTo>
                  <a:pt x="21555" y="7053"/>
                  <a:pt x="21504" y="6532"/>
                  <a:pt x="21026" y="6273"/>
                </a:cubicBezTo>
                <a:cubicBezTo>
                  <a:pt x="20980" y="6248"/>
                  <a:pt x="20936" y="6230"/>
                  <a:pt x="20894" y="6226"/>
                </a:cubicBezTo>
                <a:close/>
                <a:moveTo>
                  <a:pt x="7030" y="7729"/>
                </a:moveTo>
                <a:cubicBezTo>
                  <a:pt x="7299" y="7729"/>
                  <a:pt x="7414" y="8705"/>
                  <a:pt x="7414" y="10983"/>
                </a:cubicBezTo>
                <a:cubicBezTo>
                  <a:pt x="7414" y="12420"/>
                  <a:pt x="7387" y="12991"/>
                  <a:pt x="7297" y="13379"/>
                </a:cubicBezTo>
                <a:cubicBezTo>
                  <a:pt x="7130" y="14107"/>
                  <a:pt x="6865" y="14024"/>
                  <a:pt x="6746" y="13205"/>
                </a:cubicBezTo>
                <a:cubicBezTo>
                  <a:pt x="6684" y="12785"/>
                  <a:pt x="6647" y="11860"/>
                  <a:pt x="6647" y="10809"/>
                </a:cubicBezTo>
                <a:cubicBezTo>
                  <a:pt x="6647" y="8714"/>
                  <a:pt x="6769" y="7729"/>
                  <a:pt x="7030" y="7729"/>
                </a:cubicBezTo>
                <a:close/>
                <a:moveTo>
                  <a:pt x="20928" y="7729"/>
                </a:moveTo>
                <a:cubicBezTo>
                  <a:pt x="21152" y="7729"/>
                  <a:pt x="21248" y="8393"/>
                  <a:pt x="21224" y="9788"/>
                </a:cubicBezTo>
                <a:cubicBezTo>
                  <a:pt x="21204" y="10950"/>
                  <a:pt x="21199" y="10963"/>
                  <a:pt x="20913" y="11053"/>
                </a:cubicBezTo>
                <a:cubicBezTo>
                  <a:pt x="20571" y="11160"/>
                  <a:pt x="20531" y="11023"/>
                  <a:pt x="20531" y="9724"/>
                </a:cubicBezTo>
                <a:cubicBezTo>
                  <a:pt x="20531" y="8566"/>
                  <a:pt x="20698" y="7729"/>
                  <a:pt x="20928" y="7729"/>
                </a:cubicBezTo>
                <a:close/>
                <a:moveTo>
                  <a:pt x="9925" y="7781"/>
                </a:moveTo>
                <a:cubicBezTo>
                  <a:pt x="10018" y="7822"/>
                  <a:pt x="10094" y="8000"/>
                  <a:pt x="10162" y="8326"/>
                </a:cubicBezTo>
                <a:cubicBezTo>
                  <a:pt x="10323" y="9102"/>
                  <a:pt x="10328" y="9619"/>
                  <a:pt x="10182" y="10467"/>
                </a:cubicBezTo>
                <a:cubicBezTo>
                  <a:pt x="10120" y="10824"/>
                  <a:pt x="9977" y="11202"/>
                  <a:pt x="9863" y="11308"/>
                </a:cubicBezTo>
                <a:cubicBezTo>
                  <a:pt x="9616" y="11538"/>
                  <a:pt x="9572" y="11190"/>
                  <a:pt x="9601" y="9226"/>
                </a:cubicBezTo>
                <a:cubicBezTo>
                  <a:pt x="9620" y="7962"/>
                  <a:pt x="9635" y="7876"/>
                  <a:pt x="9827" y="7787"/>
                </a:cubicBezTo>
                <a:cubicBezTo>
                  <a:pt x="9862" y="7771"/>
                  <a:pt x="9894" y="7768"/>
                  <a:pt x="9925" y="7781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92" name="Parametreler:…"/>
          <p:cNvSpPr txBox="1"/>
          <p:nvPr/>
        </p:nvSpPr>
        <p:spPr>
          <a:xfrm>
            <a:off x="2937867" y="4235407"/>
            <a:ext cx="3929547" cy="7480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1" sz="3400">
                <a:solidFill>
                  <a:srgbClr val="2459A4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Parametreler:</a:t>
            </a:r>
            <a:endParaRPr b="0"/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num_leaves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min_child_samples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max_depth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feature_fraction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bagging_fraction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lambda_l1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lambda_l2</a:t>
            </a:r>
          </a:p>
          <a:p>
            <a:pPr marL="457200" indent="-317500" defTabSz="457200">
              <a:spcBef>
                <a:spcPts val="1200"/>
              </a:spcBef>
              <a:buClr>
                <a:srgbClr val="2459A4"/>
              </a:buClr>
              <a:buSzPct val="100000"/>
              <a:buFont typeface="Times Roman"/>
              <a:buChar char="•"/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learning_rate</a:t>
            </a:r>
          </a:p>
          <a:p>
            <a:pPr defTabSz="457200">
              <a:spcBef>
                <a:spcPts val="1200"/>
              </a:spcBef>
              <a:defRPr sz="34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pic>
        <p:nvPicPr>
          <p:cNvPr id="293" name="pngwing.com.png" descr="pngwing.co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294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295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ÇÖZÜM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298" name="EĞİTİM VE TAHMİNLEM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EĞİTİM VE TAHMİNLEME</a:t>
            </a:r>
          </a:p>
        </p:txBody>
      </p:sp>
      <p:pic>
        <p:nvPicPr>
          <p:cNvPr id="299" name="yapıştırılan-film.png" descr="yapıştırılan-film.png"/>
          <p:cNvPicPr>
            <a:picLocks noChangeAspect="1"/>
          </p:cNvPicPr>
          <p:nvPr/>
        </p:nvPicPr>
        <p:blipFill>
          <a:blip r:embed="rId2">
            <a:extLst/>
          </a:blip>
          <a:srcRect l="10198" t="14655" r="11046" b="31904"/>
          <a:stretch>
            <a:fillRect/>
          </a:stretch>
        </p:blipFill>
        <p:spPr>
          <a:xfrm>
            <a:off x="8891944" y="4988832"/>
            <a:ext cx="5859861" cy="13065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4009"/>
                </a:lnTo>
                <a:cubicBezTo>
                  <a:pt x="0" y="6213"/>
                  <a:pt x="14" y="8011"/>
                  <a:pt x="32" y="8011"/>
                </a:cubicBezTo>
                <a:cubicBezTo>
                  <a:pt x="75" y="8011"/>
                  <a:pt x="2661" y="697"/>
                  <a:pt x="2755" y="308"/>
                </a:cubicBezTo>
                <a:cubicBezTo>
                  <a:pt x="2797" y="133"/>
                  <a:pt x="2227" y="0"/>
                  <a:pt x="1415" y="0"/>
                </a:cubicBezTo>
                <a:lnTo>
                  <a:pt x="0" y="0"/>
                </a:lnTo>
                <a:close/>
                <a:moveTo>
                  <a:pt x="16083" y="4081"/>
                </a:moveTo>
                <a:lnTo>
                  <a:pt x="16083" y="10577"/>
                </a:lnTo>
                <a:lnTo>
                  <a:pt x="16083" y="17073"/>
                </a:lnTo>
                <a:lnTo>
                  <a:pt x="16724" y="17073"/>
                </a:lnTo>
                <a:cubicBezTo>
                  <a:pt x="17685" y="17071"/>
                  <a:pt x="18112" y="15609"/>
                  <a:pt x="17992" y="12742"/>
                </a:cubicBezTo>
                <a:cubicBezTo>
                  <a:pt x="17955" y="11836"/>
                  <a:pt x="17877" y="11351"/>
                  <a:pt x="17707" y="10957"/>
                </a:cubicBezTo>
                <a:lnTo>
                  <a:pt x="17475" y="10419"/>
                </a:lnTo>
                <a:lnTo>
                  <a:pt x="17676" y="9343"/>
                </a:lnTo>
                <a:cubicBezTo>
                  <a:pt x="17827" y="8543"/>
                  <a:pt x="17872" y="7950"/>
                  <a:pt x="17855" y="7040"/>
                </a:cubicBezTo>
                <a:cubicBezTo>
                  <a:pt x="17819" y="5145"/>
                  <a:pt x="17560" y="4497"/>
                  <a:pt x="16753" y="4271"/>
                </a:cubicBezTo>
                <a:lnTo>
                  <a:pt x="16083" y="4081"/>
                </a:lnTo>
                <a:close/>
                <a:moveTo>
                  <a:pt x="2875" y="4114"/>
                </a:moveTo>
                <a:lnTo>
                  <a:pt x="2622" y="4849"/>
                </a:lnTo>
                <a:cubicBezTo>
                  <a:pt x="2483" y="5256"/>
                  <a:pt x="2134" y="6257"/>
                  <a:pt x="1846" y="7067"/>
                </a:cubicBezTo>
                <a:cubicBezTo>
                  <a:pt x="1558" y="7876"/>
                  <a:pt x="1321" y="8624"/>
                  <a:pt x="1321" y="8727"/>
                </a:cubicBezTo>
                <a:cubicBezTo>
                  <a:pt x="1321" y="8830"/>
                  <a:pt x="1609" y="9159"/>
                  <a:pt x="1962" y="9461"/>
                </a:cubicBezTo>
                <a:cubicBezTo>
                  <a:pt x="2963" y="10320"/>
                  <a:pt x="2875" y="10543"/>
                  <a:pt x="2875" y="7106"/>
                </a:cubicBezTo>
                <a:lnTo>
                  <a:pt x="2875" y="4114"/>
                </a:lnTo>
                <a:close/>
                <a:moveTo>
                  <a:pt x="4585" y="4180"/>
                </a:moveTo>
                <a:lnTo>
                  <a:pt x="4585" y="10623"/>
                </a:lnTo>
                <a:lnTo>
                  <a:pt x="4585" y="17073"/>
                </a:lnTo>
                <a:lnTo>
                  <a:pt x="5400" y="17073"/>
                </a:lnTo>
                <a:cubicBezTo>
                  <a:pt x="6158" y="17073"/>
                  <a:pt x="6216" y="17024"/>
                  <a:pt x="6216" y="16390"/>
                </a:cubicBezTo>
                <a:cubicBezTo>
                  <a:pt x="6216" y="15786"/>
                  <a:pt x="6152" y="15700"/>
                  <a:pt x="5653" y="15609"/>
                </a:cubicBezTo>
                <a:lnTo>
                  <a:pt x="5089" y="15504"/>
                </a:lnTo>
                <a:lnTo>
                  <a:pt x="5068" y="9842"/>
                </a:lnTo>
                <a:lnTo>
                  <a:pt x="5046" y="4180"/>
                </a:lnTo>
                <a:lnTo>
                  <a:pt x="4816" y="4180"/>
                </a:lnTo>
                <a:lnTo>
                  <a:pt x="4585" y="4180"/>
                </a:lnTo>
                <a:close/>
                <a:moveTo>
                  <a:pt x="9635" y="4180"/>
                </a:moveTo>
                <a:lnTo>
                  <a:pt x="9635" y="10623"/>
                </a:lnTo>
                <a:lnTo>
                  <a:pt x="9635" y="17073"/>
                </a:lnTo>
                <a:lnTo>
                  <a:pt x="9867" y="17073"/>
                </a:lnTo>
                <a:lnTo>
                  <a:pt x="10100" y="17073"/>
                </a:lnTo>
                <a:lnTo>
                  <a:pt x="10100" y="14048"/>
                </a:lnTo>
                <a:cubicBezTo>
                  <a:pt x="10100" y="11420"/>
                  <a:pt x="10123" y="10916"/>
                  <a:pt x="10270" y="10216"/>
                </a:cubicBezTo>
                <a:cubicBezTo>
                  <a:pt x="10363" y="9772"/>
                  <a:pt x="10518" y="9409"/>
                  <a:pt x="10615" y="9409"/>
                </a:cubicBezTo>
                <a:cubicBezTo>
                  <a:pt x="10922" y="9409"/>
                  <a:pt x="11033" y="10634"/>
                  <a:pt x="11033" y="14015"/>
                </a:cubicBezTo>
                <a:cubicBezTo>
                  <a:pt x="11033" y="17045"/>
                  <a:pt x="11034" y="17073"/>
                  <a:pt x="11226" y="17073"/>
                </a:cubicBezTo>
                <a:lnTo>
                  <a:pt x="11421" y="17073"/>
                </a:lnTo>
                <a:lnTo>
                  <a:pt x="11421" y="13320"/>
                </a:lnTo>
                <a:cubicBezTo>
                  <a:pt x="11421" y="9151"/>
                  <a:pt x="11345" y="8229"/>
                  <a:pt x="10976" y="7913"/>
                </a:cubicBezTo>
                <a:cubicBezTo>
                  <a:pt x="10858" y="7811"/>
                  <a:pt x="10630" y="7930"/>
                  <a:pt x="10472" y="8175"/>
                </a:cubicBezTo>
                <a:cubicBezTo>
                  <a:pt x="10313" y="8421"/>
                  <a:pt x="10165" y="8534"/>
                  <a:pt x="10142" y="8431"/>
                </a:cubicBezTo>
                <a:cubicBezTo>
                  <a:pt x="10119" y="8328"/>
                  <a:pt x="10100" y="7332"/>
                  <a:pt x="10100" y="6214"/>
                </a:cubicBezTo>
                <a:cubicBezTo>
                  <a:pt x="10100" y="4188"/>
                  <a:pt x="10100" y="4180"/>
                  <a:pt x="9867" y="4180"/>
                </a:cubicBezTo>
                <a:lnTo>
                  <a:pt x="9635" y="4180"/>
                </a:lnTo>
                <a:close/>
                <a:moveTo>
                  <a:pt x="18491" y="4180"/>
                </a:moveTo>
                <a:lnTo>
                  <a:pt x="18491" y="10623"/>
                </a:lnTo>
                <a:lnTo>
                  <a:pt x="18491" y="17073"/>
                </a:lnTo>
                <a:lnTo>
                  <a:pt x="18683" y="17073"/>
                </a:lnTo>
                <a:lnTo>
                  <a:pt x="18876" y="17073"/>
                </a:lnTo>
                <a:lnTo>
                  <a:pt x="18898" y="12631"/>
                </a:lnTo>
                <a:cubicBezTo>
                  <a:pt x="18910" y="10141"/>
                  <a:pt x="18950" y="8189"/>
                  <a:pt x="18992" y="8189"/>
                </a:cubicBezTo>
                <a:cubicBezTo>
                  <a:pt x="19032" y="8189"/>
                  <a:pt x="19246" y="10150"/>
                  <a:pt x="19466" y="12545"/>
                </a:cubicBezTo>
                <a:cubicBezTo>
                  <a:pt x="19817" y="16369"/>
                  <a:pt x="19888" y="16896"/>
                  <a:pt x="20048" y="16896"/>
                </a:cubicBezTo>
                <a:cubicBezTo>
                  <a:pt x="20208" y="16896"/>
                  <a:pt x="20278" y="16363"/>
                  <a:pt x="20639" y="12368"/>
                </a:cubicBezTo>
                <a:cubicBezTo>
                  <a:pt x="20864" y="9877"/>
                  <a:pt x="21076" y="7916"/>
                  <a:pt x="21110" y="8011"/>
                </a:cubicBezTo>
                <a:cubicBezTo>
                  <a:pt x="21144" y="8107"/>
                  <a:pt x="21167" y="10187"/>
                  <a:pt x="21161" y="12631"/>
                </a:cubicBezTo>
                <a:lnTo>
                  <a:pt x="21151" y="17073"/>
                </a:lnTo>
                <a:lnTo>
                  <a:pt x="21376" y="17073"/>
                </a:lnTo>
                <a:lnTo>
                  <a:pt x="21600" y="17073"/>
                </a:lnTo>
                <a:lnTo>
                  <a:pt x="21600" y="10623"/>
                </a:lnTo>
                <a:lnTo>
                  <a:pt x="21600" y="4180"/>
                </a:lnTo>
                <a:lnTo>
                  <a:pt x="21296" y="4180"/>
                </a:lnTo>
                <a:lnTo>
                  <a:pt x="20993" y="4180"/>
                </a:lnTo>
                <a:lnTo>
                  <a:pt x="20741" y="6883"/>
                </a:lnTo>
                <a:cubicBezTo>
                  <a:pt x="20603" y="8368"/>
                  <a:pt x="20418" y="10459"/>
                  <a:pt x="20327" y="11535"/>
                </a:cubicBezTo>
                <a:cubicBezTo>
                  <a:pt x="20237" y="12611"/>
                  <a:pt x="20127" y="13554"/>
                  <a:pt x="20084" y="13628"/>
                </a:cubicBezTo>
                <a:cubicBezTo>
                  <a:pt x="20042" y="13702"/>
                  <a:pt x="19815" y="11604"/>
                  <a:pt x="19580" y="8969"/>
                </a:cubicBezTo>
                <a:lnTo>
                  <a:pt x="19153" y="4180"/>
                </a:lnTo>
                <a:lnTo>
                  <a:pt x="18822" y="4180"/>
                </a:lnTo>
                <a:lnTo>
                  <a:pt x="18491" y="4180"/>
                </a:lnTo>
                <a:close/>
                <a:moveTo>
                  <a:pt x="6705" y="4337"/>
                </a:moveTo>
                <a:cubicBezTo>
                  <a:pt x="6687" y="4342"/>
                  <a:pt x="6669" y="4356"/>
                  <a:pt x="6653" y="4383"/>
                </a:cubicBezTo>
                <a:cubicBezTo>
                  <a:pt x="6505" y="4639"/>
                  <a:pt x="6484" y="5798"/>
                  <a:pt x="6624" y="6023"/>
                </a:cubicBezTo>
                <a:cubicBezTo>
                  <a:pt x="6739" y="6208"/>
                  <a:pt x="6993" y="5677"/>
                  <a:pt x="6993" y="5256"/>
                </a:cubicBezTo>
                <a:cubicBezTo>
                  <a:pt x="6993" y="4779"/>
                  <a:pt x="6831" y="4302"/>
                  <a:pt x="6705" y="4337"/>
                </a:cubicBezTo>
                <a:close/>
                <a:moveTo>
                  <a:pt x="14819" y="4468"/>
                </a:moveTo>
                <a:cubicBezTo>
                  <a:pt x="13800" y="4456"/>
                  <a:pt x="13270" y="6639"/>
                  <a:pt x="13270" y="10852"/>
                </a:cubicBezTo>
                <a:cubicBezTo>
                  <a:pt x="13270" y="13456"/>
                  <a:pt x="13470" y="15247"/>
                  <a:pt x="13876" y="16285"/>
                </a:cubicBezTo>
                <a:cubicBezTo>
                  <a:pt x="14238" y="17212"/>
                  <a:pt x="14933" y="17344"/>
                  <a:pt x="15347" y="16567"/>
                </a:cubicBezTo>
                <a:lnTo>
                  <a:pt x="15617" y="16062"/>
                </a:lnTo>
                <a:lnTo>
                  <a:pt x="15617" y="13261"/>
                </a:lnTo>
                <a:lnTo>
                  <a:pt x="15617" y="10452"/>
                </a:lnTo>
                <a:lnTo>
                  <a:pt x="15074" y="10452"/>
                </a:lnTo>
                <a:cubicBezTo>
                  <a:pt x="14587" y="10452"/>
                  <a:pt x="14530" y="10524"/>
                  <a:pt x="14530" y="11128"/>
                </a:cubicBezTo>
                <a:cubicBezTo>
                  <a:pt x="14530" y="11658"/>
                  <a:pt x="14593" y="11831"/>
                  <a:pt x="14821" y="11915"/>
                </a:cubicBezTo>
                <a:cubicBezTo>
                  <a:pt x="15104" y="12020"/>
                  <a:pt x="15114" y="12065"/>
                  <a:pt x="15137" y="13503"/>
                </a:cubicBezTo>
                <a:cubicBezTo>
                  <a:pt x="15159" y="14848"/>
                  <a:pt x="15140" y="15017"/>
                  <a:pt x="14942" y="15354"/>
                </a:cubicBezTo>
                <a:cubicBezTo>
                  <a:pt x="14158" y="16690"/>
                  <a:pt x="13411" y="12403"/>
                  <a:pt x="13803" y="8818"/>
                </a:cubicBezTo>
                <a:cubicBezTo>
                  <a:pt x="14077" y="6304"/>
                  <a:pt x="14674" y="5315"/>
                  <a:pt x="15255" y="6404"/>
                </a:cubicBezTo>
                <a:lnTo>
                  <a:pt x="15510" y="6876"/>
                </a:lnTo>
                <a:lnTo>
                  <a:pt x="15476" y="5872"/>
                </a:lnTo>
                <a:cubicBezTo>
                  <a:pt x="15433" y="4566"/>
                  <a:pt x="15393" y="4475"/>
                  <a:pt x="14819" y="4468"/>
                </a:cubicBezTo>
                <a:close/>
                <a:moveTo>
                  <a:pt x="12325" y="4573"/>
                </a:moveTo>
                <a:cubicBezTo>
                  <a:pt x="12277" y="4548"/>
                  <a:pt x="12210" y="4662"/>
                  <a:pt x="12116" y="4888"/>
                </a:cubicBezTo>
                <a:cubicBezTo>
                  <a:pt x="12020" y="5118"/>
                  <a:pt x="11965" y="5622"/>
                  <a:pt x="11965" y="6266"/>
                </a:cubicBezTo>
                <a:cubicBezTo>
                  <a:pt x="11965" y="6823"/>
                  <a:pt x="11930" y="7375"/>
                  <a:pt x="11888" y="7493"/>
                </a:cubicBezTo>
                <a:cubicBezTo>
                  <a:pt x="11845" y="7612"/>
                  <a:pt x="11810" y="8080"/>
                  <a:pt x="11810" y="8536"/>
                </a:cubicBezTo>
                <a:cubicBezTo>
                  <a:pt x="11810" y="8993"/>
                  <a:pt x="11845" y="9461"/>
                  <a:pt x="11888" y="9580"/>
                </a:cubicBezTo>
                <a:cubicBezTo>
                  <a:pt x="11930" y="9698"/>
                  <a:pt x="11965" y="11151"/>
                  <a:pt x="11965" y="12801"/>
                </a:cubicBezTo>
                <a:cubicBezTo>
                  <a:pt x="11965" y="15105"/>
                  <a:pt x="11995" y="15947"/>
                  <a:pt x="12094" y="16436"/>
                </a:cubicBezTo>
                <a:cubicBezTo>
                  <a:pt x="12181" y="16867"/>
                  <a:pt x="12331" y="17073"/>
                  <a:pt x="12559" y="17073"/>
                </a:cubicBezTo>
                <a:cubicBezTo>
                  <a:pt x="12845" y="17073"/>
                  <a:pt x="12897" y="16967"/>
                  <a:pt x="12897" y="16377"/>
                </a:cubicBezTo>
                <a:cubicBezTo>
                  <a:pt x="12897" y="15928"/>
                  <a:pt x="12846" y="15682"/>
                  <a:pt x="12752" y="15682"/>
                </a:cubicBezTo>
                <a:cubicBezTo>
                  <a:pt x="12496" y="15682"/>
                  <a:pt x="12424" y="14840"/>
                  <a:pt x="12448" y="12139"/>
                </a:cubicBezTo>
                <a:cubicBezTo>
                  <a:pt x="12470" y="9636"/>
                  <a:pt x="12474" y="9582"/>
                  <a:pt x="12684" y="9475"/>
                </a:cubicBezTo>
                <a:cubicBezTo>
                  <a:pt x="12849" y="9389"/>
                  <a:pt x="12897" y="9177"/>
                  <a:pt x="12897" y="8536"/>
                </a:cubicBezTo>
                <a:cubicBezTo>
                  <a:pt x="12897" y="7896"/>
                  <a:pt x="12849" y="7690"/>
                  <a:pt x="12684" y="7605"/>
                </a:cubicBezTo>
                <a:cubicBezTo>
                  <a:pt x="12492" y="7506"/>
                  <a:pt x="12468" y="7335"/>
                  <a:pt x="12447" y="6010"/>
                </a:cubicBezTo>
                <a:cubicBezTo>
                  <a:pt x="12431" y="5047"/>
                  <a:pt x="12405" y="4615"/>
                  <a:pt x="12325" y="4573"/>
                </a:cubicBezTo>
                <a:close/>
                <a:moveTo>
                  <a:pt x="16848" y="5984"/>
                </a:moveTo>
                <a:cubicBezTo>
                  <a:pt x="17333" y="5776"/>
                  <a:pt x="17602" y="8048"/>
                  <a:pt x="17232" y="9212"/>
                </a:cubicBezTo>
                <a:cubicBezTo>
                  <a:pt x="17017" y="9886"/>
                  <a:pt x="16636" y="9922"/>
                  <a:pt x="16581" y="9271"/>
                </a:cubicBezTo>
                <a:cubicBezTo>
                  <a:pt x="16558" y="9004"/>
                  <a:pt x="16550" y="8179"/>
                  <a:pt x="16563" y="7441"/>
                </a:cubicBezTo>
                <a:cubicBezTo>
                  <a:pt x="16586" y="6198"/>
                  <a:pt x="16608" y="6087"/>
                  <a:pt x="16848" y="5984"/>
                </a:cubicBezTo>
                <a:close/>
                <a:moveTo>
                  <a:pt x="8270" y="7664"/>
                </a:moveTo>
                <a:cubicBezTo>
                  <a:pt x="8046" y="7641"/>
                  <a:pt x="7804" y="7896"/>
                  <a:pt x="7667" y="8379"/>
                </a:cubicBezTo>
                <a:cubicBezTo>
                  <a:pt x="7161" y="10165"/>
                  <a:pt x="7207" y="15587"/>
                  <a:pt x="7739" y="16672"/>
                </a:cubicBezTo>
                <a:cubicBezTo>
                  <a:pt x="8007" y="17221"/>
                  <a:pt x="8403" y="17177"/>
                  <a:pt x="8598" y="16567"/>
                </a:cubicBezTo>
                <a:cubicBezTo>
                  <a:pt x="8785" y="15978"/>
                  <a:pt x="8858" y="16174"/>
                  <a:pt x="8858" y="17276"/>
                </a:cubicBezTo>
                <a:cubicBezTo>
                  <a:pt x="8858" y="18402"/>
                  <a:pt x="8439" y="19861"/>
                  <a:pt x="8116" y="19861"/>
                </a:cubicBezTo>
                <a:cubicBezTo>
                  <a:pt x="7972" y="19861"/>
                  <a:pt x="7762" y="20051"/>
                  <a:pt x="7650" y="20281"/>
                </a:cubicBezTo>
                <a:cubicBezTo>
                  <a:pt x="7466" y="20656"/>
                  <a:pt x="7460" y="20731"/>
                  <a:pt x="7588" y="20957"/>
                </a:cubicBezTo>
                <a:cubicBezTo>
                  <a:pt x="7847" y="21413"/>
                  <a:pt x="8556" y="21262"/>
                  <a:pt x="8820" y="20701"/>
                </a:cubicBezTo>
                <a:cubicBezTo>
                  <a:pt x="9228" y="19833"/>
                  <a:pt x="9323" y="18291"/>
                  <a:pt x="9323" y="12539"/>
                </a:cubicBezTo>
                <a:lnTo>
                  <a:pt x="9323" y="7664"/>
                </a:lnTo>
                <a:lnTo>
                  <a:pt x="9095" y="7664"/>
                </a:lnTo>
                <a:cubicBezTo>
                  <a:pt x="8969" y="7664"/>
                  <a:pt x="8845" y="7819"/>
                  <a:pt x="8818" y="8011"/>
                </a:cubicBezTo>
                <a:cubicBezTo>
                  <a:pt x="8786" y="8245"/>
                  <a:pt x="8723" y="8245"/>
                  <a:pt x="8625" y="8011"/>
                </a:cubicBezTo>
                <a:cubicBezTo>
                  <a:pt x="8532" y="7788"/>
                  <a:pt x="8404" y="7677"/>
                  <a:pt x="8270" y="7664"/>
                </a:cubicBezTo>
                <a:close/>
                <a:moveTo>
                  <a:pt x="6528" y="8011"/>
                </a:moveTo>
                <a:lnTo>
                  <a:pt x="6528" y="12545"/>
                </a:lnTo>
                <a:lnTo>
                  <a:pt x="6528" y="17073"/>
                </a:lnTo>
                <a:lnTo>
                  <a:pt x="6760" y="17073"/>
                </a:lnTo>
                <a:lnTo>
                  <a:pt x="6993" y="17073"/>
                </a:lnTo>
                <a:lnTo>
                  <a:pt x="6993" y="12545"/>
                </a:lnTo>
                <a:lnTo>
                  <a:pt x="6993" y="8011"/>
                </a:lnTo>
                <a:lnTo>
                  <a:pt x="6760" y="8011"/>
                </a:lnTo>
                <a:lnTo>
                  <a:pt x="6528" y="8011"/>
                </a:lnTo>
                <a:close/>
                <a:moveTo>
                  <a:pt x="8331" y="9094"/>
                </a:moveTo>
                <a:cubicBezTo>
                  <a:pt x="8456" y="9086"/>
                  <a:pt x="8579" y="9347"/>
                  <a:pt x="8688" y="9868"/>
                </a:cubicBezTo>
                <a:cubicBezTo>
                  <a:pt x="8917" y="10960"/>
                  <a:pt x="8922" y="13481"/>
                  <a:pt x="8697" y="14763"/>
                </a:cubicBezTo>
                <a:cubicBezTo>
                  <a:pt x="8590" y="15372"/>
                  <a:pt x="8461" y="15682"/>
                  <a:pt x="8314" y="15682"/>
                </a:cubicBezTo>
                <a:cubicBezTo>
                  <a:pt x="7804" y="15682"/>
                  <a:pt x="7560" y="11708"/>
                  <a:pt x="7960" y="9914"/>
                </a:cubicBezTo>
                <a:cubicBezTo>
                  <a:pt x="8079" y="9377"/>
                  <a:pt x="8207" y="9102"/>
                  <a:pt x="8331" y="9094"/>
                </a:cubicBezTo>
                <a:close/>
                <a:moveTo>
                  <a:pt x="16588" y="11325"/>
                </a:moveTo>
                <a:lnTo>
                  <a:pt x="16938" y="11397"/>
                </a:lnTo>
                <a:cubicBezTo>
                  <a:pt x="17188" y="11450"/>
                  <a:pt x="17326" y="11680"/>
                  <a:pt x="17423" y="12217"/>
                </a:cubicBezTo>
                <a:cubicBezTo>
                  <a:pt x="17607" y="13228"/>
                  <a:pt x="17595" y="13808"/>
                  <a:pt x="17369" y="14822"/>
                </a:cubicBezTo>
                <a:cubicBezTo>
                  <a:pt x="17238" y="15411"/>
                  <a:pt x="17091" y="15682"/>
                  <a:pt x="16900" y="15682"/>
                </a:cubicBezTo>
                <a:cubicBezTo>
                  <a:pt x="16573" y="15682"/>
                  <a:pt x="16532" y="15345"/>
                  <a:pt x="16565" y="13024"/>
                </a:cubicBezTo>
                <a:lnTo>
                  <a:pt x="16588" y="11325"/>
                </a:lnTo>
                <a:close/>
                <a:moveTo>
                  <a:pt x="59" y="11496"/>
                </a:moveTo>
                <a:cubicBezTo>
                  <a:pt x="26" y="11499"/>
                  <a:pt x="0" y="12843"/>
                  <a:pt x="0" y="14487"/>
                </a:cubicBezTo>
                <a:cubicBezTo>
                  <a:pt x="0" y="16135"/>
                  <a:pt x="31" y="17432"/>
                  <a:pt x="70" y="17368"/>
                </a:cubicBezTo>
                <a:cubicBezTo>
                  <a:pt x="208" y="17141"/>
                  <a:pt x="1625" y="13064"/>
                  <a:pt x="1628" y="12887"/>
                </a:cubicBezTo>
                <a:cubicBezTo>
                  <a:pt x="1631" y="12730"/>
                  <a:pt x="217" y="11478"/>
                  <a:pt x="59" y="11496"/>
                </a:cubicBezTo>
                <a:close/>
                <a:moveTo>
                  <a:pt x="2904" y="13589"/>
                </a:moveTo>
                <a:cubicBezTo>
                  <a:pt x="2864" y="13589"/>
                  <a:pt x="184" y="21083"/>
                  <a:pt x="83" y="21475"/>
                </a:cubicBezTo>
                <a:cubicBezTo>
                  <a:pt x="66" y="21545"/>
                  <a:pt x="705" y="21600"/>
                  <a:pt x="1502" y="21600"/>
                </a:cubicBezTo>
                <a:lnTo>
                  <a:pt x="2952" y="21600"/>
                </a:lnTo>
                <a:lnTo>
                  <a:pt x="2952" y="17598"/>
                </a:lnTo>
                <a:cubicBezTo>
                  <a:pt x="2952" y="15394"/>
                  <a:pt x="2930" y="13589"/>
                  <a:pt x="2904" y="13589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1" name="Document"/>
          <p:cNvSpPr/>
          <p:nvPr/>
        </p:nvSpPr>
        <p:spPr>
          <a:xfrm>
            <a:off x="1820861" y="6266460"/>
            <a:ext cx="2348485" cy="30412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0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</a:path>
            </a:pathLst>
          </a:custGeom>
          <a:gradFill>
            <a:gsLst>
              <a:gs pos="0">
                <a:srgbClr val="CAFAFB"/>
              </a:gs>
              <a:gs pos="100000">
                <a:srgbClr val="75AEB5"/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02" name="Binary Classifier"/>
          <p:cNvSpPr txBox="1"/>
          <p:nvPr/>
        </p:nvSpPr>
        <p:spPr>
          <a:xfrm>
            <a:off x="5797584" y="7725637"/>
            <a:ext cx="487710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Binary Classifier</a:t>
            </a:r>
          </a:p>
        </p:txBody>
      </p:sp>
      <p:sp>
        <p:nvSpPr>
          <p:cNvPr id="303" name="No"/>
          <p:cNvSpPr txBox="1"/>
          <p:nvPr/>
        </p:nvSpPr>
        <p:spPr>
          <a:xfrm>
            <a:off x="7814573" y="9763296"/>
            <a:ext cx="95250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No</a:t>
            </a:r>
          </a:p>
        </p:txBody>
      </p:sp>
      <p:sp>
        <p:nvSpPr>
          <p:cNvPr id="304" name="Yes"/>
          <p:cNvSpPr txBox="1"/>
          <p:nvPr/>
        </p:nvSpPr>
        <p:spPr>
          <a:xfrm>
            <a:off x="11096683" y="7070268"/>
            <a:ext cx="1045770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Yes</a:t>
            </a:r>
          </a:p>
        </p:txBody>
      </p:sp>
      <p:sp>
        <p:nvSpPr>
          <p:cNvPr id="305" name="Regressor"/>
          <p:cNvSpPr txBox="1"/>
          <p:nvPr/>
        </p:nvSpPr>
        <p:spPr>
          <a:xfrm>
            <a:off x="12449842" y="7725637"/>
            <a:ext cx="307147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Regressor</a:t>
            </a:r>
          </a:p>
        </p:txBody>
      </p:sp>
      <p:sp>
        <p:nvSpPr>
          <p:cNvPr id="306" name="Deep"/>
          <p:cNvSpPr txBox="1"/>
          <p:nvPr/>
        </p:nvSpPr>
        <p:spPr>
          <a:xfrm>
            <a:off x="16607369" y="6450813"/>
            <a:ext cx="1660246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Deep</a:t>
            </a:r>
          </a:p>
        </p:txBody>
      </p:sp>
      <p:sp>
        <p:nvSpPr>
          <p:cNvPr id="307" name="Shallow"/>
          <p:cNvSpPr txBox="1"/>
          <p:nvPr/>
        </p:nvSpPr>
        <p:spPr>
          <a:xfrm>
            <a:off x="16239780" y="9135118"/>
            <a:ext cx="2273505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Shallow</a:t>
            </a:r>
          </a:p>
        </p:txBody>
      </p:sp>
      <p:sp>
        <p:nvSpPr>
          <p:cNvPr id="308" name="Line"/>
          <p:cNvSpPr/>
          <p:nvPr/>
        </p:nvSpPr>
        <p:spPr>
          <a:xfrm>
            <a:off x="11096683" y="8195537"/>
            <a:ext cx="107807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9" name="Line"/>
          <p:cNvSpPr/>
          <p:nvPr/>
        </p:nvSpPr>
        <p:spPr>
          <a:xfrm flipV="1">
            <a:off x="15555033" y="7180559"/>
            <a:ext cx="710238" cy="710238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0" name="Line"/>
          <p:cNvSpPr/>
          <p:nvPr/>
        </p:nvSpPr>
        <p:spPr>
          <a:xfrm>
            <a:off x="15555033" y="8339984"/>
            <a:ext cx="710238" cy="710237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1" name="Line"/>
          <p:cNvSpPr/>
          <p:nvPr/>
        </p:nvSpPr>
        <p:spPr>
          <a:xfrm>
            <a:off x="8276498" y="8675328"/>
            <a:ext cx="1" cy="1078078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2" name="Line"/>
          <p:cNvSpPr/>
          <p:nvPr/>
        </p:nvSpPr>
        <p:spPr>
          <a:xfrm>
            <a:off x="18571754" y="7189539"/>
            <a:ext cx="710238" cy="710238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3" name="Line"/>
          <p:cNvSpPr/>
          <p:nvPr/>
        </p:nvSpPr>
        <p:spPr>
          <a:xfrm flipV="1">
            <a:off x="18571754" y="8331004"/>
            <a:ext cx="710238" cy="710237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4" name="Line"/>
          <p:cNvSpPr/>
          <p:nvPr/>
        </p:nvSpPr>
        <p:spPr>
          <a:xfrm>
            <a:off x="4232838" y="8195537"/>
            <a:ext cx="107807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5" name="Rectangle"/>
          <p:cNvSpPr/>
          <p:nvPr/>
        </p:nvSpPr>
        <p:spPr>
          <a:xfrm>
            <a:off x="5457506" y="4841090"/>
            <a:ext cx="13986499" cy="7699045"/>
          </a:xfrm>
          <a:prstGeom prst="rect">
            <a:avLst/>
          </a:prstGeom>
          <a:ln w="114300">
            <a:solidFill>
              <a:schemeClr val="accent2">
                <a:hueOff val="63096"/>
                <a:satOff val="2685"/>
                <a:lumOff val="-934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16" name="Time-Based Validation"/>
          <p:cNvSpPr txBox="1"/>
          <p:nvPr/>
        </p:nvSpPr>
        <p:spPr>
          <a:xfrm>
            <a:off x="5347044" y="12488598"/>
            <a:ext cx="5065777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36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Time-Based Validation</a:t>
            </a:r>
          </a:p>
        </p:txBody>
      </p:sp>
      <p:sp>
        <p:nvSpPr>
          <p:cNvPr id="317" name="Line"/>
          <p:cNvSpPr/>
          <p:nvPr/>
        </p:nvSpPr>
        <p:spPr>
          <a:xfrm>
            <a:off x="19650919" y="8195537"/>
            <a:ext cx="1078079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18" name="pngwing.com.png" descr="pngwing.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Document"/>
          <p:cNvSpPr/>
          <p:nvPr/>
        </p:nvSpPr>
        <p:spPr>
          <a:xfrm>
            <a:off x="20815262" y="6266459"/>
            <a:ext cx="2348485" cy="30412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3" y="0"/>
                </a:moveTo>
                <a:cubicBezTo>
                  <a:pt x="96" y="0"/>
                  <a:pt x="0" y="72"/>
                  <a:pt x="0" y="162"/>
                </a:cubicBezTo>
                <a:lnTo>
                  <a:pt x="0" y="21438"/>
                </a:lnTo>
                <a:cubicBezTo>
                  <a:pt x="0" y="21528"/>
                  <a:pt x="96" y="21600"/>
                  <a:pt x="213" y="21600"/>
                </a:cubicBezTo>
                <a:lnTo>
                  <a:pt x="21387" y="21600"/>
                </a:lnTo>
                <a:cubicBezTo>
                  <a:pt x="21504" y="21600"/>
                  <a:pt x="21600" y="21528"/>
                  <a:pt x="21600" y="21438"/>
                </a:cubicBezTo>
                <a:lnTo>
                  <a:pt x="21600" y="5895"/>
                </a:lnTo>
                <a:cubicBezTo>
                  <a:pt x="21600" y="5863"/>
                  <a:pt x="21567" y="5837"/>
                  <a:pt x="21525" y="5837"/>
                </a:cubicBezTo>
                <a:lnTo>
                  <a:pt x="14257" y="5837"/>
                </a:lnTo>
                <a:cubicBezTo>
                  <a:pt x="14140" y="5837"/>
                  <a:pt x="14044" y="5765"/>
                  <a:pt x="14044" y="5674"/>
                </a:cubicBezTo>
                <a:lnTo>
                  <a:pt x="14044" y="58"/>
                </a:lnTo>
                <a:cubicBezTo>
                  <a:pt x="14044" y="26"/>
                  <a:pt x="14010" y="0"/>
                  <a:pt x="13969" y="0"/>
                </a:cubicBezTo>
                <a:lnTo>
                  <a:pt x="213" y="0"/>
                </a:lnTo>
                <a:close/>
                <a:moveTo>
                  <a:pt x="15018" y="86"/>
                </a:moveTo>
                <a:cubicBezTo>
                  <a:pt x="14992" y="94"/>
                  <a:pt x="14972" y="114"/>
                  <a:pt x="14972" y="140"/>
                </a:cubicBezTo>
                <a:lnTo>
                  <a:pt x="14972" y="4958"/>
                </a:lnTo>
                <a:cubicBezTo>
                  <a:pt x="14972" y="5048"/>
                  <a:pt x="15068" y="5120"/>
                  <a:pt x="15185" y="5120"/>
                </a:cubicBezTo>
                <a:lnTo>
                  <a:pt x="21419" y="5120"/>
                </a:lnTo>
                <a:cubicBezTo>
                  <a:pt x="21486" y="5120"/>
                  <a:pt x="21519" y="5058"/>
                  <a:pt x="21472" y="5021"/>
                </a:cubicBezTo>
                <a:lnTo>
                  <a:pt x="15100" y="99"/>
                </a:lnTo>
                <a:cubicBezTo>
                  <a:pt x="15077" y="81"/>
                  <a:pt x="15044" y="78"/>
                  <a:pt x="15018" y="86"/>
                </a:cubicBezTo>
                <a:close/>
              </a:path>
            </a:pathLst>
          </a:custGeom>
          <a:gradFill>
            <a:gsLst>
              <a:gs pos="0">
                <a:srgbClr val="CAFAFB"/>
              </a:gs>
              <a:gs pos="100000">
                <a:srgbClr val="75AEB5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20" name="Eğitim…"/>
          <p:cNvSpPr txBox="1"/>
          <p:nvPr/>
        </p:nvSpPr>
        <p:spPr>
          <a:xfrm>
            <a:off x="2410231" y="7448962"/>
            <a:ext cx="1320090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Eğitim</a:t>
            </a:r>
          </a:p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Verisi</a:t>
            </a:r>
          </a:p>
        </p:txBody>
      </p:sp>
      <p:sp>
        <p:nvSpPr>
          <p:cNvPr id="321" name="Seed…"/>
          <p:cNvSpPr txBox="1"/>
          <p:nvPr/>
        </p:nvSpPr>
        <p:spPr>
          <a:xfrm>
            <a:off x="20505281" y="6331362"/>
            <a:ext cx="2968449" cy="345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Seed</a:t>
            </a:r>
          </a:p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  <a:r>
              <a:t>based Ensemble Prediction</a:t>
            </a:r>
          </a:p>
        </p:txBody>
      </p:sp>
      <p:sp>
        <p:nvSpPr>
          <p:cNvPr id="322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323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ÇÖZÜM MİMARİS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ÇÖZÜM MİMARİSİ</a:t>
            </a:r>
          </a:p>
        </p:txBody>
      </p:sp>
      <p:sp>
        <p:nvSpPr>
          <p:cNvPr id="326" name="THRESHOLD OPTIMIZATION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THRESHOLD OPTIMIZATION</a:t>
            </a:r>
          </a:p>
        </p:txBody>
      </p:sp>
      <p:sp>
        <p:nvSpPr>
          <p:cNvPr id="327" name="0.10———————0.60…"/>
          <p:cNvSpPr txBox="1"/>
          <p:nvPr/>
        </p:nvSpPr>
        <p:spPr>
          <a:xfrm>
            <a:off x="3027681" y="6055980"/>
            <a:ext cx="7569774" cy="322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0.10———————0.60</a:t>
            </a:r>
          </a:p>
          <a:p>
            <a:pPr/>
            <a:r>
              <a:t>             </a:t>
            </a:r>
          </a:p>
          <a:p>
            <a:pPr/>
            <a:r>
              <a:t>              0.280</a:t>
            </a:r>
          </a:p>
        </p:txBody>
      </p:sp>
      <p:sp>
        <p:nvSpPr>
          <p:cNvPr id="328" name="Christmas sezonu için özel Threshold"/>
          <p:cNvSpPr txBox="1"/>
          <p:nvPr/>
        </p:nvSpPr>
        <p:spPr>
          <a:xfrm>
            <a:off x="11970842" y="6267112"/>
            <a:ext cx="11584498" cy="208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Christmas sezonu için özel Threshold</a:t>
            </a:r>
          </a:p>
        </p:txBody>
      </p:sp>
      <p:pic>
        <p:nvPicPr>
          <p:cNvPr id="329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33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1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332" name="Snowman"/>
          <p:cNvSpPr/>
          <p:nvPr/>
        </p:nvSpPr>
        <p:spPr>
          <a:xfrm>
            <a:off x="16219344" y="7528230"/>
            <a:ext cx="1653538" cy="1919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358" y="0"/>
                </a:moveTo>
                <a:lnTo>
                  <a:pt x="8807" y="2829"/>
                </a:lnTo>
                <a:lnTo>
                  <a:pt x="7753" y="2829"/>
                </a:lnTo>
                <a:lnTo>
                  <a:pt x="7753" y="3401"/>
                </a:lnTo>
                <a:lnTo>
                  <a:pt x="8598" y="3401"/>
                </a:lnTo>
                <a:cubicBezTo>
                  <a:pt x="8153" y="3856"/>
                  <a:pt x="7885" y="4442"/>
                  <a:pt x="7885" y="5083"/>
                </a:cubicBezTo>
                <a:cubicBezTo>
                  <a:pt x="7885" y="5757"/>
                  <a:pt x="8182" y="6373"/>
                  <a:pt x="8669" y="6836"/>
                </a:cubicBezTo>
                <a:cubicBezTo>
                  <a:pt x="7685" y="7351"/>
                  <a:pt x="6957" y="8193"/>
                  <a:pt x="6689" y="9187"/>
                </a:cubicBezTo>
                <a:lnTo>
                  <a:pt x="5220" y="9674"/>
                </a:lnTo>
                <a:lnTo>
                  <a:pt x="2523" y="9021"/>
                </a:lnTo>
                <a:lnTo>
                  <a:pt x="2139" y="7795"/>
                </a:lnTo>
                <a:lnTo>
                  <a:pt x="1775" y="7821"/>
                </a:lnTo>
                <a:lnTo>
                  <a:pt x="1804" y="8810"/>
                </a:lnTo>
                <a:lnTo>
                  <a:pt x="104" y="8404"/>
                </a:lnTo>
                <a:lnTo>
                  <a:pt x="0" y="8618"/>
                </a:lnTo>
                <a:lnTo>
                  <a:pt x="1517" y="9165"/>
                </a:lnTo>
                <a:lnTo>
                  <a:pt x="530" y="9723"/>
                </a:lnTo>
                <a:lnTo>
                  <a:pt x="780" y="9939"/>
                </a:lnTo>
                <a:lnTo>
                  <a:pt x="2368" y="9519"/>
                </a:lnTo>
                <a:lnTo>
                  <a:pt x="5267" y="10672"/>
                </a:lnTo>
                <a:lnTo>
                  <a:pt x="6593" y="10370"/>
                </a:lnTo>
                <a:cubicBezTo>
                  <a:pt x="6666" y="11090"/>
                  <a:pt x="6977" y="11753"/>
                  <a:pt x="7457" y="12298"/>
                </a:cubicBezTo>
                <a:cubicBezTo>
                  <a:pt x="5949" y="13228"/>
                  <a:pt x="4966" y="14751"/>
                  <a:pt x="4966" y="16471"/>
                </a:cubicBezTo>
                <a:cubicBezTo>
                  <a:pt x="4966" y="19304"/>
                  <a:pt x="7630" y="21600"/>
                  <a:pt x="10918" y="21600"/>
                </a:cubicBezTo>
                <a:cubicBezTo>
                  <a:pt x="14206" y="21600"/>
                  <a:pt x="16871" y="19304"/>
                  <a:pt x="16871" y="16471"/>
                </a:cubicBezTo>
                <a:cubicBezTo>
                  <a:pt x="16871" y="14751"/>
                  <a:pt x="15888" y="13228"/>
                  <a:pt x="14379" y="12298"/>
                </a:cubicBezTo>
                <a:cubicBezTo>
                  <a:pt x="14847" y="11766"/>
                  <a:pt x="15155" y="11122"/>
                  <a:pt x="15238" y="10422"/>
                </a:cubicBezTo>
                <a:lnTo>
                  <a:pt x="16333" y="10672"/>
                </a:lnTo>
                <a:lnTo>
                  <a:pt x="19232" y="9519"/>
                </a:lnTo>
                <a:lnTo>
                  <a:pt x="20820" y="9939"/>
                </a:lnTo>
                <a:lnTo>
                  <a:pt x="21070" y="9723"/>
                </a:lnTo>
                <a:lnTo>
                  <a:pt x="20083" y="9165"/>
                </a:lnTo>
                <a:lnTo>
                  <a:pt x="21600" y="8618"/>
                </a:lnTo>
                <a:lnTo>
                  <a:pt x="21496" y="8404"/>
                </a:lnTo>
                <a:lnTo>
                  <a:pt x="19796" y="8810"/>
                </a:lnTo>
                <a:lnTo>
                  <a:pt x="19825" y="7821"/>
                </a:lnTo>
                <a:lnTo>
                  <a:pt x="19461" y="7795"/>
                </a:lnTo>
                <a:lnTo>
                  <a:pt x="19077" y="9021"/>
                </a:lnTo>
                <a:lnTo>
                  <a:pt x="16380" y="9674"/>
                </a:lnTo>
                <a:lnTo>
                  <a:pt x="15171" y="9273"/>
                </a:lnTo>
                <a:cubicBezTo>
                  <a:pt x="14922" y="8242"/>
                  <a:pt x="14182" y="7366"/>
                  <a:pt x="13170" y="6836"/>
                </a:cubicBezTo>
                <a:cubicBezTo>
                  <a:pt x="13656" y="6373"/>
                  <a:pt x="13952" y="5757"/>
                  <a:pt x="13952" y="5083"/>
                </a:cubicBezTo>
                <a:cubicBezTo>
                  <a:pt x="13952" y="4442"/>
                  <a:pt x="13683" y="3856"/>
                  <a:pt x="13239" y="3401"/>
                </a:cubicBezTo>
                <a:lnTo>
                  <a:pt x="14084" y="3401"/>
                </a:lnTo>
                <a:lnTo>
                  <a:pt x="14084" y="2829"/>
                </a:lnTo>
                <a:lnTo>
                  <a:pt x="13030" y="2829"/>
                </a:lnTo>
                <a:lnTo>
                  <a:pt x="13479" y="0"/>
                </a:lnTo>
                <a:lnTo>
                  <a:pt x="8358" y="0"/>
                </a:lnTo>
                <a:close/>
                <a:moveTo>
                  <a:pt x="10085" y="3841"/>
                </a:moveTo>
                <a:cubicBezTo>
                  <a:pt x="10275" y="3841"/>
                  <a:pt x="10430" y="3974"/>
                  <a:pt x="10430" y="4138"/>
                </a:cubicBezTo>
                <a:cubicBezTo>
                  <a:pt x="10430" y="4301"/>
                  <a:pt x="10275" y="4433"/>
                  <a:pt x="10085" y="4433"/>
                </a:cubicBezTo>
                <a:cubicBezTo>
                  <a:pt x="9895" y="4433"/>
                  <a:pt x="9742" y="4301"/>
                  <a:pt x="9742" y="4138"/>
                </a:cubicBezTo>
                <a:cubicBezTo>
                  <a:pt x="9742" y="3974"/>
                  <a:pt x="9895" y="3841"/>
                  <a:pt x="10085" y="3841"/>
                </a:cubicBezTo>
                <a:close/>
                <a:moveTo>
                  <a:pt x="11812" y="3841"/>
                </a:moveTo>
                <a:cubicBezTo>
                  <a:pt x="12002" y="3841"/>
                  <a:pt x="12157" y="3974"/>
                  <a:pt x="12157" y="4138"/>
                </a:cubicBezTo>
                <a:cubicBezTo>
                  <a:pt x="12157" y="4301"/>
                  <a:pt x="12002" y="4433"/>
                  <a:pt x="11812" y="4433"/>
                </a:cubicBezTo>
                <a:cubicBezTo>
                  <a:pt x="11623" y="4433"/>
                  <a:pt x="11470" y="4301"/>
                  <a:pt x="11470" y="4138"/>
                </a:cubicBezTo>
                <a:cubicBezTo>
                  <a:pt x="11470" y="3974"/>
                  <a:pt x="11623" y="3841"/>
                  <a:pt x="11812" y="3841"/>
                </a:cubicBezTo>
                <a:close/>
                <a:moveTo>
                  <a:pt x="10932" y="4725"/>
                </a:moveTo>
                <a:lnTo>
                  <a:pt x="12719" y="4966"/>
                </a:lnTo>
                <a:cubicBezTo>
                  <a:pt x="12815" y="4966"/>
                  <a:pt x="12894" y="5034"/>
                  <a:pt x="12894" y="5117"/>
                </a:cubicBezTo>
                <a:cubicBezTo>
                  <a:pt x="12894" y="5200"/>
                  <a:pt x="12815" y="5268"/>
                  <a:pt x="12719" y="5268"/>
                </a:cubicBezTo>
                <a:cubicBezTo>
                  <a:pt x="12719" y="5268"/>
                  <a:pt x="11028" y="5494"/>
                  <a:pt x="10932" y="5507"/>
                </a:cubicBezTo>
                <a:cubicBezTo>
                  <a:pt x="10684" y="5541"/>
                  <a:pt x="10479" y="5333"/>
                  <a:pt x="10479" y="5117"/>
                </a:cubicBezTo>
                <a:cubicBezTo>
                  <a:pt x="10479" y="4901"/>
                  <a:pt x="10681" y="4725"/>
                  <a:pt x="10932" y="4725"/>
                </a:cubicBezTo>
                <a:close/>
                <a:moveTo>
                  <a:pt x="9725" y="5808"/>
                </a:moveTo>
                <a:cubicBezTo>
                  <a:pt x="9848" y="5784"/>
                  <a:pt x="9971" y="5852"/>
                  <a:pt x="9998" y="5959"/>
                </a:cubicBezTo>
                <a:cubicBezTo>
                  <a:pt x="10026" y="6065"/>
                  <a:pt x="9946" y="6170"/>
                  <a:pt x="9823" y="6193"/>
                </a:cubicBezTo>
                <a:cubicBezTo>
                  <a:pt x="9700" y="6217"/>
                  <a:pt x="9578" y="6150"/>
                  <a:pt x="9551" y="6044"/>
                </a:cubicBezTo>
                <a:cubicBezTo>
                  <a:pt x="9524" y="5937"/>
                  <a:pt x="9601" y="5831"/>
                  <a:pt x="9725" y="5808"/>
                </a:cubicBezTo>
                <a:close/>
                <a:moveTo>
                  <a:pt x="12092" y="5808"/>
                </a:moveTo>
                <a:cubicBezTo>
                  <a:pt x="12216" y="5784"/>
                  <a:pt x="12339" y="5852"/>
                  <a:pt x="12366" y="5959"/>
                </a:cubicBezTo>
                <a:cubicBezTo>
                  <a:pt x="12393" y="6065"/>
                  <a:pt x="12316" y="6170"/>
                  <a:pt x="12193" y="6193"/>
                </a:cubicBezTo>
                <a:cubicBezTo>
                  <a:pt x="12069" y="6217"/>
                  <a:pt x="11946" y="6150"/>
                  <a:pt x="11919" y="6044"/>
                </a:cubicBezTo>
                <a:cubicBezTo>
                  <a:pt x="11892" y="5937"/>
                  <a:pt x="11969" y="5831"/>
                  <a:pt x="12092" y="5808"/>
                </a:cubicBezTo>
                <a:close/>
                <a:moveTo>
                  <a:pt x="10540" y="6113"/>
                </a:moveTo>
                <a:cubicBezTo>
                  <a:pt x="10628" y="6127"/>
                  <a:pt x="10701" y="6186"/>
                  <a:pt x="10721" y="6266"/>
                </a:cubicBezTo>
                <a:cubicBezTo>
                  <a:pt x="10749" y="6372"/>
                  <a:pt x="10671" y="6477"/>
                  <a:pt x="10548" y="6500"/>
                </a:cubicBezTo>
                <a:cubicBezTo>
                  <a:pt x="10424" y="6524"/>
                  <a:pt x="10301" y="6457"/>
                  <a:pt x="10274" y="6351"/>
                </a:cubicBezTo>
                <a:cubicBezTo>
                  <a:pt x="10247" y="6244"/>
                  <a:pt x="10326" y="6138"/>
                  <a:pt x="10449" y="6115"/>
                </a:cubicBezTo>
                <a:cubicBezTo>
                  <a:pt x="10480" y="6109"/>
                  <a:pt x="10511" y="6109"/>
                  <a:pt x="10540" y="6113"/>
                </a:cubicBezTo>
                <a:close/>
                <a:moveTo>
                  <a:pt x="11395" y="6113"/>
                </a:moveTo>
                <a:cubicBezTo>
                  <a:pt x="11483" y="6127"/>
                  <a:pt x="11558" y="6186"/>
                  <a:pt x="11578" y="6266"/>
                </a:cubicBezTo>
                <a:cubicBezTo>
                  <a:pt x="11605" y="6372"/>
                  <a:pt x="11526" y="6477"/>
                  <a:pt x="11403" y="6500"/>
                </a:cubicBezTo>
                <a:cubicBezTo>
                  <a:pt x="11279" y="6524"/>
                  <a:pt x="11158" y="6457"/>
                  <a:pt x="11131" y="6351"/>
                </a:cubicBezTo>
                <a:cubicBezTo>
                  <a:pt x="11104" y="6244"/>
                  <a:pt x="11181" y="6138"/>
                  <a:pt x="11304" y="6115"/>
                </a:cubicBezTo>
                <a:cubicBezTo>
                  <a:pt x="11335" y="6109"/>
                  <a:pt x="11366" y="6109"/>
                  <a:pt x="11395" y="6113"/>
                </a:cubicBezTo>
                <a:close/>
                <a:moveTo>
                  <a:pt x="10918" y="7822"/>
                </a:moveTo>
                <a:cubicBezTo>
                  <a:pt x="11107" y="7822"/>
                  <a:pt x="11261" y="7953"/>
                  <a:pt x="11261" y="8116"/>
                </a:cubicBezTo>
                <a:cubicBezTo>
                  <a:pt x="11261" y="8279"/>
                  <a:pt x="11107" y="8411"/>
                  <a:pt x="10918" y="8411"/>
                </a:cubicBezTo>
                <a:cubicBezTo>
                  <a:pt x="10729" y="8411"/>
                  <a:pt x="10575" y="8279"/>
                  <a:pt x="10575" y="8116"/>
                </a:cubicBezTo>
                <a:cubicBezTo>
                  <a:pt x="10575" y="7953"/>
                  <a:pt x="10729" y="7822"/>
                  <a:pt x="10918" y="7822"/>
                </a:cubicBezTo>
                <a:close/>
                <a:moveTo>
                  <a:pt x="10918" y="9170"/>
                </a:moveTo>
                <a:cubicBezTo>
                  <a:pt x="11107" y="9170"/>
                  <a:pt x="11261" y="9302"/>
                  <a:pt x="11261" y="9465"/>
                </a:cubicBezTo>
                <a:cubicBezTo>
                  <a:pt x="11261" y="9628"/>
                  <a:pt x="11107" y="9760"/>
                  <a:pt x="10918" y="9760"/>
                </a:cubicBezTo>
                <a:cubicBezTo>
                  <a:pt x="10729" y="9760"/>
                  <a:pt x="10575" y="9628"/>
                  <a:pt x="10575" y="9465"/>
                </a:cubicBezTo>
                <a:cubicBezTo>
                  <a:pt x="10575" y="9302"/>
                  <a:pt x="10729" y="9170"/>
                  <a:pt x="10918" y="9170"/>
                </a:cubicBezTo>
                <a:close/>
                <a:moveTo>
                  <a:pt x="10918" y="10517"/>
                </a:moveTo>
                <a:cubicBezTo>
                  <a:pt x="11107" y="10517"/>
                  <a:pt x="11261" y="10650"/>
                  <a:pt x="11261" y="10813"/>
                </a:cubicBezTo>
                <a:cubicBezTo>
                  <a:pt x="11261" y="10976"/>
                  <a:pt x="11107" y="11108"/>
                  <a:pt x="10918" y="11108"/>
                </a:cubicBezTo>
                <a:cubicBezTo>
                  <a:pt x="10729" y="11108"/>
                  <a:pt x="10575" y="10976"/>
                  <a:pt x="10575" y="10813"/>
                </a:cubicBezTo>
                <a:cubicBezTo>
                  <a:pt x="10575" y="10650"/>
                  <a:pt x="10729" y="10517"/>
                  <a:pt x="10918" y="10517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33" name="Approved"/>
          <p:cNvSpPr/>
          <p:nvPr/>
        </p:nvSpPr>
        <p:spPr>
          <a:xfrm>
            <a:off x="4517738" y="8546578"/>
            <a:ext cx="694056" cy="6940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799" y="0"/>
                </a:moveTo>
                <a:cubicBezTo>
                  <a:pt x="4834" y="0"/>
                  <a:pt x="0" y="4836"/>
                  <a:pt x="0" y="10801"/>
                </a:cubicBezTo>
                <a:cubicBezTo>
                  <a:pt x="0" y="16765"/>
                  <a:pt x="4835" y="21600"/>
                  <a:pt x="10799" y="21600"/>
                </a:cubicBezTo>
                <a:cubicBezTo>
                  <a:pt x="16764" y="21600"/>
                  <a:pt x="21600" y="16765"/>
                  <a:pt x="21600" y="10801"/>
                </a:cubicBezTo>
                <a:cubicBezTo>
                  <a:pt x="21600" y="4836"/>
                  <a:pt x="16764" y="0"/>
                  <a:pt x="10799" y="0"/>
                </a:cubicBezTo>
                <a:close/>
                <a:moveTo>
                  <a:pt x="16449" y="5521"/>
                </a:moveTo>
                <a:cubicBezTo>
                  <a:pt x="16477" y="5521"/>
                  <a:pt x="16505" y="5532"/>
                  <a:pt x="16527" y="5553"/>
                </a:cubicBezTo>
                <a:lnTo>
                  <a:pt x="18129" y="7155"/>
                </a:lnTo>
                <a:cubicBezTo>
                  <a:pt x="18171" y="7198"/>
                  <a:pt x="18171" y="7268"/>
                  <a:pt x="18129" y="7311"/>
                </a:cubicBezTo>
                <a:lnTo>
                  <a:pt x="8340" y="17100"/>
                </a:lnTo>
                <a:cubicBezTo>
                  <a:pt x="8297" y="17142"/>
                  <a:pt x="8227" y="17142"/>
                  <a:pt x="8185" y="17100"/>
                </a:cubicBezTo>
                <a:lnTo>
                  <a:pt x="7693" y="16608"/>
                </a:lnTo>
                <a:lnTo>
                  <a:pt x="6505" y="15420"/>
                </a:lnTo>
                <a:lnTo>
                  <a:pt x="3062" y="11977"/>
                </a:lnTo>
                <a:cubicBezTo>
                  <a:pt x="3020" y="11934"/>
                  <a:pt x="3020" y="11866"/>
                  <a:pt x="3062" y="11823"/>
                </a:cubicBezTo>
                <a:lnTo>
                  <a:pt x="4664" y="10221"/>
                </a:lnTo>
                <a:cubicBezTo>
                  <a:pt x="4707" y="10178"/>
                  <a:pt x="4777" y="10178"/>
                  <a:pt x="4820" y="10221"/>
                </a:cubicBezTo>
                <a:lnTo>
                  <a:pt x="8185" y="13586"/>
                </a:lnTo>
                <a:cubicBezTo>
                  <a:pt x="8227" y="13629"/>
                  <a:pt x="8297" y="13629"/>
                  <a:pt x="8340" y="13586"/>
                </a:cubicBezTo>
                <a:lnTo>
                  <a:pt x="16373" y="5553"/>
                </a:lnTo>
                <a:cubicBezTo>
                  <a:pt x="16394" y="5532"/>
                  <a:pt x="16421" y="5521"/>
                  <a:pt x="16449" y="5521"/>
                </a:cubicBezTo>
                <a:close/>
              </a:path>
            </a:pathLst>
          </a:cu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34" name="0.02"/>
          <p:cNvSpPr txBox="1"/>
          <p:nvPr/>
        </p:nvSpPr>
        <p:spPr>
          <a:xfrm>
            <a:off x="5313516" y="6838612"/>
            <a:ext cx="133350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0.02</a:t>
            </a:r>
          </a:p>
        </p:txBody>
      </p:sp>
      <p:sp>
        <p:nvSpPr>
          <p:cNvPr id="335" name="Rectangle"/>
          <p:cNvSpPr/>
          <p:nvPr/>
        </p:nvSpPr>
        <p:spPr>
          <a:xfrm>
            <a:off x="1664492" y="4796376"/>
            <a:ext cx="9156246" cy="5568350"/>
          </a:xfrm>
          <a:prstGeom prst="rect">
            <a:avLst/>
          </a:prstGeom>
          <a:gradFill>
            <a:gsLst>
              <a:gs pos="0">
                <a:schemeClr val="accent3">
                  <a:hueOff val="-384148"/>
                  <a:satOff val="-32497"/>
                  <a:lumOff val="17957"/>
                  <a:alpha val="10585"/>
                </a:schemeClr>
              </a:gs>
              <a:gs pos="100000">
                <a:schemeClr val="accent3">
                  <a:hueOff val="5521883"/>
                  <a:lumOff val="15708"/>
                  <a:alpha val="10585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36" name="Rectangle"/>
          <p:cNvSpPr/>
          <p:nvPr/>
        </p:nvSpPr>
        <p:spPr>
          <a:xfrm>
            <a:off x="1664492" y="4796376"/>
            <a:ext cx="9156246" cy="5568350"/>
          </a:xfrm>
          <a:prstGeom prst="rect">
            <a:avLst/>
          </a:prstGeom>
          <a:gradFill>
            <a:gsLst>
              <a:gs pos="0">
                <a:schemeClr val="accent3">
                  <a:hueOff val="-384148"/>
                  <a:satOff val="-32497"/>
                  <a:lumOff val="17957"/>
                  <a:alpha val="0"/>
                </a:schemeClr>
              </a:gs>
              <a:gs pos="100000">
                <a:schemeClr val="accent3">
                  <a:hueOff val="5521883"/>
                  <a:lumOff val="15708"/>
                  <a:alpha val="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37" name="Rectangle"/>
          <p:cNvSpPr/>
          <p:nvPr/>
        </p:nvSpPr>
        <p:spPr>
          <a:xfrm>
            <a:off x="11815399" y="4796376"/>
            <a:ext cx="10993934" cy="5568350"/>
          </a:xfrm>
          <a:prstGeom prst="rect">
            <a:avLst/>
          </a:prstGeom>
          <a:gradFill>
            <a:gsLst>
              <a:gs pos="0">
                <a:srgbClr val="8AD500">
                  <a:alpha val="10585"/>
                </a:srgbClr>
              </a:gs>
              <a:gs pos="100000">
                <a:schemeClr val="accent3">
                  <a:hueOff val="5521883"/>
                  <a:lumOff val="15708"/>
                  <a:alpha val="10585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38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ÇIKARIMLA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00951"/>
                    </a:gs>
                    <a:gs pos="100000">
                      <a:srgbClr val="0ACBF8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ÇIKARIMLAR</a:t>
            </a:r>
          </a:p>
        </p:txBody>
      </p:sp>
      <p:sp>
        <p:nvSpPr>
          <p:cNvPr id="341" name="FEATURE IMPORTANCE"/>
          <p:cNvSpPr txBox="1"/>
          <p:nvPr>
            <p:ph type="body" idx="21"/>
          </p:nvPr>
        </p:nvSpPr>
        <p:spPr>
          <a:xfrm>
            <a:off x="1270000" y="2133322"/>
            <a:ext cx="21844000" cy="1016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FEATURE IMPORTANCE</a:t>
            </a:r>
          </a:p>
        </p:txBody>
      </p:sp>
      <p:pic>
        <p:nvPicPr>
          <p:cNvPr id="342" name="output4.png" descr="output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12080" y="4307925"/>
            <a:ext cx="10033001" cy="7493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" name="yapıştırılan-film.png" descr="yapıştırılan-fil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32571" y="5186631"/>
            <a:ext cx="9690101" cy="4419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4" name="pngwing.com.png" descr="pngwing.co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6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347" name="Rectangle"/>
          <p:cNvSpPr/>
          <p:nvPr/>
        </p:nvSpPr>
        <p:spPr>
          <a:xfrm>
            <a:off x="1814662" y="4308321"/>
            <a:ext cx="10027836" cy="7492210"/>
          </a:xfrm>
          <a:prstGeom prst="rect">
            <a:avLst/>
          </a:prstGeom>
          <a:gradFill>
            <a:gsLst>
              <a:gs pos="0">
                <a:srgbClr val="FFFFFF">
                  <a:alpha val="9000"/>
                </a:srgbClr>
              </a:gs>
              <a:gs pos="100000">
                <a:schemeClr val="accent1">
                  <a:lumOff val="13575"/>
                  <a:alpha val="900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48" name="Rectangle"/>
          <p:cNvSpPr/>
          <p:nvPr/>
        </p:nvSpPr>
        <p:spPr>
          <a:xfrm>
            <a:off x="12326625" y="5190575"/>
            <a:ext cx="9701992" cy="4411714"/>
          </a:xfrm>
          <a:prstGeom prst="rect">
            <a:avLst/>
          </a:prstGeom>
          <a:gradFill>
            <a:gsLst>
              <a:gs pos="0">
                <a:srgbClr val="FFFFFF">
                  <a:alpha val="9905"/>
                </a:srgbClr>
              </a:gs>
              <a:gs pos="100000">
                <a:schemeClr val="accent1">
                  <a:lumOff val="13575"/>
                  <a:alpha val="9905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spcBef>
                <a:spcPts val="0"/>
              </a:spcBef>
              <a:defRPr sz="3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349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MODEL GELİŞTİRME SÜRECİ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MODEL GELİŞTİRME SÜRECİ</a:t>
            </a:r>
          </a:p>
        </p:txBody>
      </p:sp>
      <p:sp>
        <p:nvSpPr>
          <p:cNvPr id="352" name="ÖZET"/>
          <p:cNvSpPr txBox="1"/>
          <p:nvPr>
            <p:ph type="body" idx="21"/>
          </p:nvPr>
        </p:nvSpPr>
        <p:spPr>
          <a:xfrm>
            <a:off x="1270000" y="2323194"/>
            <a:ext cx="21844000" cy="1016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ÖZET</a:t>
            </a:r>
          </a:p>
        </p:txBody>
      </p:sp>
      <p:pic>
        <p:nvPicPr>
          <p:cNvPr id="353" name="Code_Generated_Image-2.png" descr="Code_Generated_Image-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52066" y="3683000"/>
            <a:ext cx="12700001" cy="63500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354" name="Tablo 1"/>
          <p:cNvGraphicFramePr/>
          <p:nvPr/>
        </p:nvGraphicFramePr>
        <p:xfrm>
          <a:off x="6963788" y="9736028"/>
          <a:ext cx="11539716" cy="30264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81753"/>
                <a:gridCol w="2881753"/>
                <a:gridCol w="2881753"/>
                <a:gridCol w="2881753"/>
              </a:tblGrid>
              <a:tr h="1710436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2 Stage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Seed Avg
Threshold
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
Time-Based Val
Recency Weight
Feature Extraction
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200"/>
                        <a:t>Deep,Shallow
Mean Bias
Seasonal Adjusment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165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0.97934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1.00691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1.01242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1.01698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1651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0.98657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1.01690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1.02108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1.02362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graphicFrame>
        <p:nvGraphicFramePr>
          <p:cNvPr id="355" name="Tablo 2"/>
          <p:cNvGraphicFramePr/>
          <p:nvPr/>
        </p:nvGraphicFramePr>
        <p:xfrm>
          <a:off x="4966890" y="11451596"/>
          <a:ext cx="3996863" cy="12532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993900"/>
              </a:tblGrid>
              <a:tr h="64564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Public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45649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/>
                        <a:t>Private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3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7" name="pngwing.com.png" descr="pngwing.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359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C5D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ONUÇ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SONUÇ</a:t>
            </a:r>
          </a:p>
        </p:txBody>
      </p:sp>
      <p:sp>
        <p:nvSpPr>
          <p:cNvPr id="362" name="ÇÖZÜMÜN UYGULANABİLİRLİĞİ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ÇÖZÜMÜN UYGULANABİLİRLİĞİ</a:t>
            </a:r>
          </a:p>
        </p:txBody>
      </p:sp>
      <p:sp>
        <p:nvSpPr>
          <p:cNvPr id="363" name="2 Aşamalı Mode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58800" indent="-558800">
              <a:buClr>
                <a:srgbClr val="2459A4"/>
              </a:buClr>
              <a:defRPr sz="5200"/>
            </a:pPr>
            <a:r>
              <a:t>2 Aşamalı Model</a:t>
            </a:r>
          </a:p>
          <a:p>
            <a:pPr marL="558800" indent="-558800">
              <a:buClr>
                <a:srgbClr val="2459A4"/>
              </a:buClr>
              <a:defRPr sz="5200"/>
            </a:pPr>
            <a:r>
              <a:t>Optimize Feature-Set</a:t>
            </a:r>
          </a:p>
          <a:p>
            <a:pPr marL="558800" indent="-558800">
              <a:buClr>
                <a:srgbClr val="2459A4"/>
              </a:buClr>
              <a:defRPr sz="5200"/>
            </a:pPr>
            <a:r>
              <a:t>Hafif Mimari</a:t>
            </a:r>
          </a:p>
          <a:p>
            <a:pPr marL="558800" indent="-558800">
              <a:buClr>
                <a:srgbClr val="2459A4"/>
              </a:buClr>
              <a:defRPr sz="5200"/>
            </a:pPr>
            <a:r>
              <a:t>Dinamik Adaptasyon</a:t>
            </a:r>
          </a:p>
        </p:txBody>
      </p:sp>
      <p:pic>
        <p:nvPicPr>
          <p:cNvPr id="364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36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6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367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  <p:sp>
        <p:nvSpPr>
          <p:cNvPr id="368" name="Probability x Quantity"/>
          <p:cNvSpPr txBox="1"/>
          <p:nvPr/>
        </p:nvSpPr>
        <p:spPr>
          <a:xfrm>
            <a:off x="13772894" y="4487675"/>
            <a:ext cx="6054853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Probability x Quantity</a:t>
            </a:r>
          </a:p>
        </p:txBody>
      </p:sp>
      <p:pic>
        <p:nvPicPr>
          <p:cNvPr id="369" name="yapıştırılan-film.png" descr="yapıştırılan-film.png"/>
          <p:cNvPicPr>
            <a:picLocks noChangeAspect="1"/>
          </p:cNvPicPr>
          <p:nvPr/>
        </p:nvPicPr>
        <p:blipFill>
          <a:blip r:embed="rId3">
            <a:extLst/>
          </a:blip>
          <a:srcRect l="10198" t="14655" r="11049" b="31902"/>
          <a:stretch>
            <a:fillRect/>
          </a:stretch>
        </p:blipFill>
        <p:spPr>
          <a:xfrm>
            <a:off x="13817900" y="6765550"/>
            <a:ext cx="5117307" cy="1141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4012"/>
                </a:lnTo>
                <a:cubicBezTo>
                  <a:pt x="0" y="6216"/>
                  <a:pt x="14" y="8016"/>
                  <a:pt x="32" y="8016"/>
                </a:cubicBezTo>
                <a:cubicBezTo>
                  <a:pt x="75" y="8016"/>
                  <a:pt x="2660" y="696"/>
                  <a:pt x="2754" y="308"/>
                </a:cubicBezTo>
                <a:cubicBezTo>
                  <a:pt x="2796" y="133"/>
                  <a:pt x="2226" y="0"/>
                  <a:pt x="1414" y="0"/>
                </a:cubicBezTo>
                <a:lnTo>
                  <a:pt x="0" y="0"/>
                </a:lnTo>
                <a:close/>
                <a:moveTo>
                  <a:pt x="16084" y="4080"/>
                </a:moveTo>
                <a:lnTo>
                  <a:pt x="16084" y="10578"/>
                </a:lnTo>
                <a:lnTo>
                  <a:pt x="16084" y="17077"/>
                </a:lnTo>
                <a:lnTo>
                  <a:pt x="16725" y="17070"/>
                </a:lnTo>
                <a:cubicBezTo>
                  <a:pt x="17687" y="17068"/>
                  <a:pt x="18113" y="15609"/>
                  <a:pt x="17993" y="12742"/>
                </a:cubicBezTo>
                <a:cubicBezTo>
                  <a:pt x="17955" y="11836"/>
                  <a:pt x="17878" y="11355"/>
                  <a:pt x="17709" y="10962"/>
                </a:cubicBezTo>
                <a:lnTo>
                  <a:pt x="17476" y="10421"/>
                </a:lnTo>
                <a:lnTo>
                  <a:pt x="17677" y="9346"/>
                </a:lnTo>
                <a:cubicBezTo>
                  <a:pt x="17827" y="8546"/>
                  <a:pt x="17872" y="7950"/>
                  <a:pt x="17854" y="7040"/>
                </a:cubicBezTo>
                <a:cubicBezTo>
                  <a:pt x="17818" y="5145"/>
                  <a:pt x="17560" y="4501"/>
                  <a:pt x="16754" y="4275"/>
                </a:cubicBezTo>
                <a:lnTo>
                  <a:pt x="16084" y="4080"/>
                </a:lnTo>
                <a:close/>
                <a:moveTo>
                  <a:pt x="2875" y="4117"/>
                </a:moveTo>
                <a:lnTo>
                  <a:pt x="2622" y="4853"/>
                </a:lnTo>
                <a:cubicBezTo>
                  <a:pt x="2483" y="5261"/>
                  <a:pt x="2134" y="6253"/>
                  <a:pt x="1846" y="7062"/>
                </a:cubicBezTo>
                <a:cubicBezTo>
                  <a:pt x="1558" y="7872"/>
                  <a:pt x="1322" y="8620"/>
                  <a:pt x="1322" y="8723"/>
                </a:cubicBezTo>
                <a:cubicBezTo>
                  <a:pt x="1321" y="8826"/>
                  <a:pt x="1609" y="9156"/>
                  <a:pt x="1962" y="9459"/>
                </a:cubicBezTo>
                <a:cubicBezTo>
                  <a:pt x="2962" y="10318"/>
                  <a:pt x="2875" y="10545"/>
                  <a:pt x="2875" y="7107"/>
                </a:cubicBezTo>
                <a:lnTo>
                  <a:pt x="2875" y="4117"/>
                </a:lnTo>
                <a:close/>
                <a:moveTo>
                  <a:pt x="4585" y="4185"/>
                </a:moveTo>
                <a:lnTo>
                  <a:pt x="4585" y="10623"/>
                </a:lnTo>
                <a:lnTo>
                  <a:pt x="4585" y="17077"/>
                </a:lnTo>
                <a:lnTo>
                  <a:pt x="5399" y="17077"/>
                </a:lnTo>
                <a:cubicBezTo>
                  <a:pt x="6157" y="17077"/>
                  <a:pt x="6215" y="17027"/>
                  <a:pt x="6215" y="16393"/>
                </a:cubicBezTo>
                <a:cubicBezTo>
                  <a:pt x="6215" y="15789"/>
                  <a:pt x="6152" y="15695"/>
                  <a:pt x="5652" y="15605"/>
                </a:cubicBezTo>
                <a:lnTo>
                  <a:pt x="5089" y="15507"/>
                </a:lnTo>
                <a:lnTo>
                  <a:pt x="5067" y="9842"/>
                </a:lnTo>
                <a:lnTo>
                  <a:pt x="5046" y="4185"/>
                </a:lnTo>
                <a:lnTo>
                  <a:pt x="4816" y="4185"/>
                </a:lnTo>
                <a:lnTo>
                  <a:pt x="4585" y="4185"/>
                </a:lnTo>
                <a:close/>
                <a:moveTo>
                  <a:pt x="9634" y="4185"/>
                </a:moveTo>
                <a:lnTo>
                  <a:pt x="9634" y="10623"/>
                </a:lnTo>
                <a:lnTo>
                  <a:pt x="9634" y="17077"/>
                </a:lnTo>
                <a:lnTo>
                  <a:pt x="9869" y="17077"/>
                </a:lnTo>
                <a:lnTo>
                  <a:pt x="10101" y="17077"/>
                </a:lnTo>
                <a:lnTo>
                  <a:pt x="10101" y="14049"/>
                </a:lnTo>
                <a:cubicBezTo>
                  <a:pt x="10101" y="11422"/>
                  <a:pt x="10122" y="10910"/>
                  <a:pt x="10269" y="10210"/>
                </a:cubicBezTo>
                <a:cubicBezTo>
                  <a:pt x="10362" y="9767"/>
                  <a:pt x="10519" y="9406"/>
                  <a:pt x="10616" y="9406"/>
                </a:cubicBezTo>
                <a:cubicBezTo>
                  <a:pt x="10923" y="9406"/>
                  <a:pt x="11033" y="10630"/>
                  <a:pt x="11033" y="14012"/>
                </a:cubicBezTo>
                <a:cubicBezTo>
                  <a:pt x="11033" y="17042"/>
                  <a:pt x="11035" y="17077"/>
                  <a:pt x="11227" y="17077"/>
                </a:cubicBezTo>
                <a:lnTo>
                  <a:pt x="11421" y="17077"/>
                </a:lnTo>
                <a:lnTo>
                  <a:pt x="11421" y="13313"/>
                </a:lnTo>
                <a:cubicBezTo>
                  <a:pt x="11421" y="9145"/>
                  <a:pt x="11346" y="8235"/>
                  <a:pt x="10978" y="7919"/>
                </a:cubicBezTo>
                <a:cubicBezTo>
                  <a:pt x="10859" y="7817"/>
                  <a:pt x="10630" y="7929"/>
                  <a:pt x="10472" y="8174"/>
                </a:cubicBezTo>
                <a:cubicBezTo>
                  <a:pt x="10313" y="8419"/>
                  <a:pt x="10166" y="8533"/>
                  <a:pt x="10143" y="8430"/>
                </a:cubicBezTo>
                <a:cubicBezTo>
                  <a:pt x="10120" y="8327"/>
                  <a:pt x="10101" y="7331"/>
                  <a:pt x="10101" y="6213"/>
                </a:cubicBezTo>
                <a:cubicBezTo>
                  <a:pt x="10101" y="4187"/>
                  <a:pt x="10101" y="4185"/>
                  <a:pt x="9869" y="4185"/>
                </a:cubicBezTo>
                <a:lnTo>
                  <a:pt x="9634" y="4185"/>
                </a:lnTo>
                <a:close/>
                <a:moveTo>
                  <a:pt x="18493" y="4185"/>
                </a:moveTo>
                <a:lnTo>
                  <a:pt x="18493" y="10623"/>
                </a:lnTo>
                <a:lnTo>
                  <a:pt x="18493" y="17077"/>
                </a:lnTo>
                <a:lnTo>
                  <a:pt x="18683" y="17077"/>
                </a:lnTo>
                <a:lnTo>
                  <a:pt x="18876" y="17077"/>
                </a:lnTo>
                <a:lnTo>
                  <a:pt x="18898" y="12629"/>
                </a:lnTo>
                <a:cubicBezTo>
                  <a:pt x="18910" y="10140"/>
                  <a:pt x="18952" y="8189"/>
                  <a:pt x="18993" y="8189"/>
                </a:cubicBezTo>
                <a:cubicBezTo>
                  <a:pt x="19034" y="8189"/>
                  <a:pt x="19247" y="10151"/>
                  <a:pt x="19467" y="12547"/>
                </a:cubicBezTo>
                <a:cubicBezTo>
                  <a:pt x="19819" y="16370"/>
                  <a:pt x="19889" y="16897"/>
                  <a:pt x="20049" y="16897"/>
                </a:cubicBezTo>
                <a:cubicBezTo>
                  <a:pt x="20209" y="16897"/>
                  <a:pt x="20279" y="16361"/>
                  <a:pt x="20640" y="12366"/>
                </a:cubicBezTo>
                <a:cubicBezTo>
                  <a:pt x="20865" y="9875"/>
                  <a:pt x="21077" y="7921"/>
                  <a:pt x="21111" y="8016"/>
                </a:cubicBezTo>
                <a:cubicBezTo>
                  <a:pt x="21145" y="8112"/>
                  <a:pt x="21167" y="10186"/>
                  <a:pt x="21161" y="12629"/>
                </a:cubicBezTo>
                <a:lnTo>
                  <a:pt x="21151" y="17077"/>
                </a:lnTo>
                <a:lnTo>
                  <a:pt x="21376" y="17077"/>
                </a:lnTo>
                <a:lnTo>
                  <a:pt x="21600" y="17077"/>
                </a:lnTo>
                <a:lnTo>
                  <a:pt x="21600" y="10623"/>
                </a:lnTo>
                <a:lnTo>
                  <a:pt x="21600" y="4185"/>
                </a:lnTo>
                <a:lnTo>
                  <a:pt x="21297" y="4185"/>
                </a:lnTo>
                <a:lnTo>
                  <a:pt x="20994" y="4185"/>
                </a:lnTo>
                <a:lnTo>
                  <a:pt x="20742" y="6882"/>
                </a:lnTo>
                <a:cubicBezTo>
                  <a:pt x="20604" y="8367"/>
                  <a:pt x="20417" y="10457"/>
                  <a:pt x="20327" y="11533"/>
                </a:cubicBezTo>
                <a:cubicBezTo>
                  <a:pt x="20237" y="12608"/>
                  <a:pt x="20128" y="13555"/>
                  <a:pt x="20086" y="13629"/>
                </a:cubicBezTo>
                <a:cubicBezTo>
                  <a:pt x="20043" y="13703"/>
                  <a:pt x="19815" y="11605"/>
                  <a:pt x="19580" y="8971"/>
                </a:cubicBezTo>
                <a:lnTo>
                  <a:pt x="19153" y="4185"/>
                </a:lnTo>
                <a:lnTo>
                  <a:pt x="18823" y="4185"/>
                </a:lnTo>
                <a:lnTo>
                  <a:pt x="18493" y="4185"/>
                </a:lnTo>
                <a:close/>
                <a:moveTo>
                  <a:pt x="6704" y="4335"/>
                </a:moveTo>
                <a:cubicBezTo>
                  <a:pt x="6686" y="4340"/>
                  <a:pt x="6668" y="4360"/>
                  <a:pt x="6652" y="4388"/>
                </a:cubicBezTo>
                <a:cubicBezTo>
                  <a:pt x="6503" y="4644"/>
                  <a:pt x="6484" y="5793"/>
                  <a:pt x="6624" y="6018"/>
                </a:cubicBezTo>
                <a:cubicBezTo>
                  <a:pt x="6738" y="6202"/>
                  <a:pt x="6994" y="5681"/>
                  <a:pt x="6994" y="5259"/>
                </a:cubicBezTo>
                <a:cubicBezTo>
                  <a:pt x="6994" y="4782"/>
                  <a:pt x="6830" y="4300"/>
                  <a:pt x="6704" y="4335"/>
                </a:cubicBezTo>
                <a:close/>
                <a:moveTo>
                  <a:pt x="14819" y="4470"/>
                </a:moveTo>
                <a:cubicBezTo>
                  <a:pt x="13799" y="4458"/>
                  <a:pt x="13271" y="6635"/>
                  <a:pt x="13271" y="10849"/>
                </a:cubicBezTo>
                <a:cubicBezTo>
                  <a:pt x="13271" y="13452"/>
                  <a:pt x="13470" y="15242"/>
                  <a:pt x="13876" y="16281"/>
                </a:cubicBezTo>
                <a:cubicBezTo>
                  <a:pt x="14238" y="17208"/>
                  <a:pt x="14934" y="17343"/>
                  <a:pt x="15348" y="16566"/>
                </a:cubicBezTo>
                <a:lnTo>
                  <a:pt x="15618" y="16063"/>
                </a:lnTo>
                <a:lnTo>
                  <a:pt x="15618" y="13261"/>
                </a:lnTo>
                <a:lnTo>
                  <a:pt x="15618" y="10451"/>
                </a:lnTo>
                <a:lnTo>
                  <a:pt x="15073" y="10451"/>
                </a:lnTo>
                <a:cubicBezTo>
                  <a:pt x="14587" y="10451"/>
                  <a:pt x="14529" y="10522"/>
                  <a:pt x="14529" y="11127"/>
                </a:cubicBezTo>
                <a:cubicBezTo>
                  <a:pt x="14529" y="11656"/>
                  <a:pt x="14592" y="11831"/>
                  <a:pt x="14820" y="11916"/>
                </a:cubicBezTo>
                <a:cubicBezTo>
                  <a:pt x="15103" y="12021"/>
                  <a:pt x="15114" y="12062"/>
                  <a:pt x="15137" y="13501"/>
                </a:cubicBezTo>
                <a:cubicBezTo>
                  <a:pt x="15159" y="14846"/>
                  <a:pt x="15140" y="15020"/>
                  <a:pt x="14943" y="15357"/>
                </a:cubicBezTo>
                <a:cubicBezTo>
                  <a:pt x="14159" y="16693"/>
                  <a:pt x="13412" y="12405"/>
                  <a:pt x="13804" y="8820"/>
                </a:cubicBezTo>
                <a:cubicBezTo>
                  <a:pt x="14078" y="6306"/>
                  <a:pt x="14675" y="5313"/>
                  <a:pt x="15256" y="6401"/>
                </a:cubicBezTo>
                <a:lnTo>
                  <a:pt x="15511" y="6874"/>
                </a:lnTo>
                <a:lnTo>
                  <a:pt x="15477" y="5875"/>
                </a:lnTo>
                <a:cubicBezTo>
                  <a:pt x="15434" y="4569"/>
                  <a:pt x="15392" y="4477"/>
                  <a:pt x="14819" y="4470"/>
                </a:cubicBezTo>
                <a:close/>
                <a:moveTo>
                  <a:pt x="12324" y="4575"/>
                </a:moveTo>
                <a:cubicBezTo>
                  <a:pt x="12277" y="4550"/>
                  <a:pt x="12209" y="4664"/>
                  <a:pt x="12115" y="4891"/>
                </a:cubicBezTo>
                <a:cubicBezTo>
                  <a:pt x="12019" y="5121"/>
                  <a:pt x="11966" y="5621"/>
                  <a:pt x="11966" y="6266"/>
                </a:cubicBezTo>
                <a:cubicBezTo>
                  <a:pt x="11966" y="6823"/>
                  <a:pt x="11930" y="7372"/>
                  <a:pt x="11887" y="7491"/>
                </a:cubicBezTo>
                <a:cubicBezTo>
                  <a:pt x="11844" y="7609"/>
                  <a:pt x="11810" y="8078"/>
                  <a:pt x="11810" y="8535"/>
                </a:cubicBezTo>
                <a:cubicBezTo>
                  <a:pt x="11810" y="8991"/>
                  <a:pt x="11844" y="9461"/>
                  <a:pt x="11887" y="9579"/>
                </a:cubicBezTo>
                <a:cubicBezTo>
                  <a:pt x="11930" y="9698"/>
                  <a:pt x="11966" y="11152"/>
                  <a:pt x="11966" y="12802"/>
                </a:cubicBezTo>
                <a:cubicBezTo>
                  <a:pt x="11966" y="15105"/>
                  <a:pt x="11995" y="15949"/>
                  <a:pt x="12093" y="16439"/>
                </a:cubicBezTo>
                <a:cubicBezTo>
                  <a:pt x="12180" y="16870"/>
                  <a:pt x="12332" y="17077"/>
                  <a:pt x="12561" y="17077"/>
                </a:cubicBezTo>
                <a:cubicBezTo>
                  <a:pt x="12846" y="17077"/>
                  <a:pt x="12897" y="16968"/>
                  <a:pt x="12897" y="16378"/>
                </a:cubicBezTo>
                <a:cubicBezTo>
                  <a:pt x="12897" y="15929"/>
                  <a:pt x="12847" y="15680"/>
                  <a:pt x="12753" y="15680"/>
                </a:cubicBezTo>
                <a:cubicBezTo>
                  <a:pt x="12497" y="15680"/>
                  <a:pt x="12424" y="14843"/>
                  <a:pt x="12448" y="12141"/>
                </a:cubicBezTo>
                <a:cubicBezTo>
                  <a:pt x="12471" y="9638"/>
                  <a:pt x="12476" y="9582"/>
                  <a:pt x="12685" y="9474"/>
                </a:cubicBezTo>
                <a:cubicBezTo>
                  <a:pt x="12851" y="9388"/>
                  <a:pt x="12897" y="9176"/>
                  <a:pt x="12897" y="8535"/>
                </a:cubicBezTo>
                <a:cubicBezTo>
                  <a:pt x="12897" y="7894"/>
                  <a:pt x="12851" y="7689"/>
                  <a:pt x="12685" y="7603"/>
                </a:cubicBezTo>
                <a:cubicBezTo>
                  <a:pt x="12493" y="7505"/>
                  <a:pt x="12468" y="7335"/>
                  <a:pt x="12447" y="6010"/>
                </a:cubicBezTo>
                <a:cubicBezTo>
                  <a:pt x="12431" y="5047"/>
                  <a:pt x="12404" y="4617"/>
                  <a:pt x="12324" y="4575"/>
                </a:cubicBezTo>
                <a:close/>
                <a:moveTo>
                  <a:pt x="16847" y="5988"/>
                </a:moveTo>
                <a:cubicBezTo>
                  <a:pt x="17332" y="5780"/>
                  <a:pt x="17604" y="8046"/>
                  <a:pt x="17233" y="9211"/>
                </a:cubicBezTo>
                <a:cubicBezTo>
                  <a:pt x="17018" y="9885"/>
                  <a:pt x="16637" y="9922"/>
                  <a:pt x="16581" y="9271"/>
                </a:cubicBezTo>
                <a:cubicBezTo>
                  <a:pt x="16558" y="9004"/>
                  <a:pt x="16551" y="8177"/>
                  <a:pt x="16564" y="7438"/>
                </a:cubicBezTo>
                <a:cubicBezTo>
                  <a:pt x="16587" y="6196"/>
                  <a:pt x="16607" y="6091"/>
                  <a:pt x="16847" y="5988"/>
                </a:cubicBezTo>
                <a:close/>
                <a:moveTo>
                  <a:pt x="8270" y="7663"/>
                </a:moveTo>
                <a:cubicBezTo>
                  <a:pt x="8047" y="7640"/>
                  <a:pt x="7804" y="7894"/>
                  <a:pt x="7667" y="8377"/>
                </a:cubicBezTo>
                <a:cubicBezTo>
                  <a:pt x="7161" y="10164"/>
                  <a:pt x="7206" y="15586"/>
                  <a:pt x="7738" y="16671"/>
                </a:cubicBezTo>
                <a:cubicBezTo>
                  <a:pt x="8006" y="17220"/>
                  <a:pt x="8403" y="17176"/>
                  <a:pt x="8597" y="16566"/>
                </a:cubicBezTo>
                <a:cubicBezTo>
                  <a:pt x="8785" y="15977"/>
                  <a:pt x="8858" y="16170"/>
                  <a:pt x="8858" y="17272"/>
                </a:cubicBezTo>
                <a:cubicBezTo>
                  <a:pt x="8858" y="18399"/>
                  <a:pt x="8439" y="19857"/>
                  <a:pt x="8116" y="19857"/>
                </a:cubicBezTo>
                <a:cubicBezTo>
                  <a:pt x="7972" y="19857"/>
                  <a:pt x="7764" y="20047"/>
                  <a:pt x="7651" y="20278"/>
                </a:cubicBezTo>
                <a:cubicBezTo>
                  <a:pt x="7467" y="20653"/>
                  <a:pt x="7460" y="20728"/>
                  <a:pt x="7589" y="20954"/>
                </a:cubicBezTo>
                <a:cubicBezTo>
                  <a:pt x="7847" y="21410"/>
                  <a:pt x="8556" y="21267"/>
                  <a:pt x="8820" y="20706"/>
                </a:cubicBezTo>
                <a:cubicBezTo>
                  <a:pt x="9228" y="19838"/>
                  <a:pt x="9324" y="18291"/>
                  <a:pt x="9324" y="12539"/>
                </a:cubicBezTo>
                <a:lnTo>
                  <a:pt x="9324" y="7663"/>
                </a:lnTo>
                <a:lnTo>
                  <a:pt x="9096" y="7663"/>
                </a:lnTo>
                <a:cubicBezTo>
                  <a:pt x="8971" y="7663"/>
                  <a:pt x="8845" y="7824"/>
                  <a:pt x="8818" y="8016"/>
                </a:cubicBezTo>
                <a:cubicBezTo>
                  <a:pt x="8786" y="8250"/>
                  <a:pt x="8723" y="8250"/>
                  <a:pt x="8626" y="8016"/>
                </a:cubicBezTo>
                <a:cubicBezTo>
                  <a:pt x="8533" y="7793"/>
                  <a:pt x="8405" y="7677"/>
                  <a:pt x="8270" y="7663"/>
                </a:cubicBezTo>
                <a:close/>
                <a:moveTo>
                  <a:pt x="6527" y="8016"/>
                </a:moveTo>
                <a:lnTo>
                  <a:pt x="6527" y="12547"/>
                </a:lnTo>
                <a:lnTo>
                  <a:pt x="6527" y="17077"/>
                </a:lnTo>
                <a:lnTo>
                  <a:pt x="6759" y="17077"/>
                </a:lnTo>
                <a:lnTo>
                  <a:pt x="6994" y="17077"/>
                </a:lnTo>
                <a:lnTo>
                  <a:pt x="6994" y="12547"/>
                </a:lnTo>
                <a:lnTo>
                  <a:pt x="6994" y="8016"/>
                </a:lnTo>
                <a:lnTo>
                  <a:pt x="6759" y="8016"/>
                </a:lnTo>
                <a:lnTo>
                  <a:pt x="6527" y="8016"/>
                </a:lnTo>
                <a:close/>
                <a:moveTo>
                  <a:pt x="8332" y="9098"/>
                </a:moveTo>
                <a:cubicBezTo>
                  <a:pt x="8457" y="9090"/>
                  <a:pt x="8580" y="9343"/>
                  <a:pt x="8689" y="9865"/>
                </a:cubicBezTo>
                <a:cubicBezTo>
                  <a:pt x="8918" y="10956"/>
                  <a:pt x="8922" y="13481"/>
                  <a:pt x="8698" y="14763"/>
                </a:cubicBezTo>
                <a:cubicBezTo>
                  <a:pt x="8591" y="15372"/>
                  <a:pt x="8461" y="15680"/>
                  <a:pt x="8314" y="15680"/>
                </a:cubicBezTo>
                <a:cubicBezTo>
                  <a:pt x="7804" y="15680"/>
                  <a:pt x="7561" y="11711"/>
                  <a:pt x="7961" y="9917"/>
                </a:cubicBezTo>
                <a:cubicBezTo>
                  <a:pt x="8080" y="9380"/>
                  <a:pt x="8208" y="9107"/>
                  <a:pt x="8332" y="9098"/>
                </a:cubicBezTo>
                <a:close/>
                <a:moveTo>
                  <a:pt x="16588" y="11322"/>
                </a:moveTo>
                <a:lnTo>
                  <a:pt x="16938" y="11397"/>
                </a:lnTo>
                <a:cubicBezTo>
                  <a:pt x="17189" y="11450"/>
                  <a:pt x="17326" y="11679"/>
                  <a:pt x="17424" y="12216"/>
                </a:cubicBezTo>
                <a:cubicBezTo>
                  <a:pt x="17607" y="13227"/>
                  <a:pt x="17596" y="13810"/>
                  <a:pt x="17370" y="14823"/>
                </a:cubicBezTo>
                <a:cubicBezTo>
                  <a:pt x="17239" y="15412"/>
                  <a:pt x="17093" y="15680"/>
                  <a:pt x="16901" y="15680"/>
                </a:cubicBezTo>
                <a:cubicBezTo>
                  <a:pt x="16575" y="15680"/>
                  <a:pt x="16531" y="15341"/>
                  <a:pt x="16564" y="13020"/>
                </a:cubicBezTo>
                <a:lnTo>
                  <a:pt x="16588" y="11322"/>
                </a:lnTo>
                <a:close/>
                <a:moveTo>
                  <a:pt x="59" y="11495"/>
                </a:moveTo>
                <a:cubicBezTo>
                  <a:pt x="27" y="11499"/>
                  <a:pt x="0" y="12848"/>
                  <a:pt x="0" y="14493"/>
                </a:cubicBezTo>
                <a:cubicBezTo>
                  <a:pt x="0" y="16140"/>
                  <a:pt x="31" y="17427"/>
                  <a:pt x="70" y="17363"/>
                </a:cubicBezTo>
                <a:cubicBezTo>
                  <a:pt x="208" y="17136"/>
                  <a:pt x="1625" y="13063"/>
                  <a:pt x="1628" y="12885"/>
                </a:cubicBezTo>
                <a:cubicBezTo>
                  <a:pt x="1631" y="12728"/>
                  <a:pt x="217" y="11477"/>
                  <a:pt x="59" y="11495"/>
                </a:cubicBezTo>
                <a:close/>
                <a:moveTo>
                  <a:pt x="2905" y="13584"/>
                </a:moveTo>
                <a:cubicBezTo>
                  <a:pt x="2865" y="13584"/>
                  <a:pt x="184" y="21080"/>
                  <a:pt x="84" y="21472"/>
                </a:cubicBezTo>
                <a:cubicBezTo>
                  <a:pt x="66" y="21542"/>
                  <a:pt x="705" y="21600"/>
                  <a:pt x="1503" y="21600"/>
                </a:cubicBezTo>
                <a:lnTo>
                  <a:pt x="2952" y="21600"/>
                </a:lnTo>
                <a:lnTo>
                  <a:pt x="2952" y="17596"/>
                </a:lnTo>
                <a:cubicBezTo>
                  <a:pt x="2952" y="15392"/>
                  <a:pt x="2931" y="13584"/>
                  <a:pt x="2905" y="13584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1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ONUÇ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0ACBF8"/>
                    </a:gs>
                    <a:gs pos="100000">
                      <a:srgbClr val="000951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SONUÇ</a:t>
            </a:r>
          </a:p>
        </p:txBody>
      </p:sp>
      <p:sp>
        <p:nvSpPr>
          <p:cNvPr id="372" name="POTANSİYEL GELİŞTİRMELE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POTANSİYEL GELİŞTİRMELER</a:t>
            </a:r>
          </a:p>
        </p:txBody>
      </p:sp>
      <p:sp>
        <p:nvSpPr>
          <p:cNvPr id="373" name="Hiyerarşik Featureler daha iyi ele alınması…"/>
          <p:cNvSpPr txBox="1"/>
          <p:nvPr>
            <p:ph type="body" idx="1"/>
          </p:nvPr>
        </p:nvSpPr>
        <p:spPr>
          <a:xfrm>
            <a:off x="1270000" y="4698941"/>
            <a:ext cx="21844000" cy="8432801"/>
          </a:xfrm>
          <a:prstGeom prst="rect">
            <a:avLst/>
          </a:prstGeom>
        </p:spPr>
        <p:txBody>
          <a:bodyPr/>
          <a:lstStyle/>
          <a:p>
            <a:pPr marL="558800" indent="-558800">
              <a:buClr>
                <a:srgbClr val="2459A4"/>
              </a:buClr>
              <a:defRPr sz="5200"/>
            </a:pPr>
            <a:r>
              <a:t>Hiyerarşik Featureler daha iyi ele alınması</a:t>
            </a:r>
          </a:p>
          <a:p>
            <a:pPr marL="558800" indent="-558800">
              <a:buClr>
                <a:srgbClr val="2459A4"/>
              </a:buClr>
              <a:defRPr sz="5200"/>
            </a:pPr>
            <a:r>
              <a:t>Ensemble Ağırlık Optimizasyonu</a:t>
            </a:r>
          </a:p>
          <a:p>
            <a:pPr marL="558800" indent="-558800">
              <a:buClr>
                <a:srgbClr val="2459A4"/>
              </a:buClr>
              <a:defRPr sz="5200"/>
            </a:pPr>
            <a:r>
              <a:t>Advanced Ensemble</a:t>
            </a:r>
          </a:p>
          <a:p>
            <a:pPr marL="558800" indent="-558800">
              <a:buClr>
                <a:srgbClr val="2459A4"/>
              </a:buClr>
              <a:defRPr sz="5200"/>
            </a:pPr>
            <a:r>
              <a:t>Pazarlama &amp; Promosyon Entegrasyonu</a:t>
            </a:r>
          </a:p>
        </p:txBody>
      </p:sp>
      <p:pic>
        <p:nvPicPr>
          <p:cNvPr id="374" name="pngwing.com.png" descr="pngwing.co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30295" y="-409772"/>
            <a:ext cx="3996590" cy="2825412"/>
          </a:xfrm>
          <a:prstGeom prst="rect">
            <a:avLst/>
          </a:prstGeom>
          <a:ln w="12700">
            <a:miter lim="400000"/>
          </a:ln>
        </p:spPr>
      </p:pic>
      <p:sp>
        <p:nvSpPr>
          <p:cNvPr id="37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6" name="Alp Eren Aslan"/>
          <p:cNvSpPr txBox="1"/>
          <p:nvPr/>
        </p:nvSpPr>
        <p:spPr>
          <a:xfrm>
            <a:off x="22113158" y="13066903"/>
            <a:ext cx="206173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300"/>
            </a:lvl1pPr>
          </a:lstStyle>
          <a:p>
            <a:pPr/>
            <a:r>
              <a:t>Alp Eren Aslan</a:t>
            </a:r>
          </a:p>
        </p:txBody>
      </p:sp>
      <p:sp>
        <p:nvSpPr>
          <p:cNvPr id="377" name="2025"/>
          <p:cNvSpPr txBox="1"/>
          <p:nvPr/>
        </p:nvSpPr>
        <p:spPr>
          <a:xfrm>
            <a:off x="-10355321" y="13115204"/>
            <a:ext cx="21844001" cy="69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spcBef>
                <a:spcPts val="0"/>
              </a:spcBef>
              <a:defRPr sz="2300"/>
            </a:lvl1pPr>
          </a:lstStyle>
          <a:p>
            <a:pPr/>
            <a:r>
              <a:t>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609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ŞEKKÜRLER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TEŞEKKÜRLER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